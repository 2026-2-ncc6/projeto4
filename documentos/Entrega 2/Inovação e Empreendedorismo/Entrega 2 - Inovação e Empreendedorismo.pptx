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nton Italics" charset="1" panose="00000500000000000000"/>
      <p:regular r:id="rId25"/>
    </p:embeddedFont>
    <p:embeddedFont>
      <p:font typeface="Arimo" charset="1" panose="020B0604020202020204"/>
      <p:regular r:id="rId26"/>
    </p:embeddedFont>
    <p:embeddedFont>
      <p:font typeface="Arimo Bold" charset="1" panose="020B0704020202020204"/>
      <p:regular r:id="rId27"/>
    </p:embeddedFont>
    <p:embeddedFont>
      <p:font typeface="HK Grotesk Bold" charset="1" panose="00000800000000000000"/>
      <p:regular r:id="rId28"/>
    </p:embeddedFont>
    <p:embeddedFont>
      <p:font typeface="HK Grotesk Light" charset="1" panose="00000400000000000000"/>
      <p:regular r:id="rId29"/>
    </p:embeddedFont>
    <p:embeddedFont>
      <p:font typeface="Arimo Italics" charset="1" panose="020B060402020209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638" cy="10286638"/>
            <a:chOff x="0" y="0"/>
            <a:chExt cx="24383517" cy="13715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492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3492">
                  <a:moveTo>
                    <a:pt x="0" y="0"/>
                  </a:moveTo>
                  <a:lnTo>
                    <a:pt x="24383492" y="0"/>
                  </a:lnTo>
                  <a:lnTo>
                    <a:pt x="24383492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881" y="1028881"/>
            <a:ext cx="520198" cy="520198"/>
          </a:xfrm>
          <a:custGeom>
            <a:avLst/>
            <a:gdLst/>
            <a:ahLst/>
            <a:cxnLst/>
            <a:rect r="r" b="b" t="t" l="l"/>
            <a:pathLst>
              <a:path h="520198" w="520198">
                <a:moveTo>
                  <a:pt x="0" y="0"/>
                </a:moveTo>
                <a:lnTo>
                  <a:pt x="520198" y="0"/>
                </a:lnTo>
                <a:lnTo>
                  <a:pt x="520198" y="520198"/>
                </a:lnTo>
                <a:lnTo>
                  <a:pt x="0" y="520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881" y="4343314"/>
            <a:ext cx="13199402" cy="398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69"/>
              </a:lnSpc>
            </a:pPr>
            <a:r>
              <a:rPr lang="en-US" sz="2118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Smart Ace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881" y="8090278"/>
            <a:ext cx="5818318" cy="729720"/>
          </a:xfrm>
          <a:custGeom>
            <a:avLst/>
            <a:gdLst/>
            <a:ahLst/>
            <a:cxnLst/>
            <a:rect r="r" b="b" t="t" l="l"/>
            <a:pathLst>
              <a:path h="729720" w="5818318">
                <a:moveTo>
                  <a:pt x="0" y="0"/>
                </a:moveTo>
                <a:lnTo>
                  <a:pt x="5818318" y="0"/>
                </a:lnTo>
                <a:lnTo>
                  <a:pt x="5818318" y="729720"/>
                </a:lnTo>
                <a:lnTo>
                  <a:pt x="0" y="729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33760" y="1150201"/>
            <a:ext cx="1573921" cy="27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593043" y="8091364"/>
            <a:ext cx="8930878" cy="728643"/>
          </a:xfrm>
          <a:custGeom>
            <a:avLst/>
            <a:gdLst/>
            <a:ahLst/>
            <a:cxnLst/>
            <a:rect r="r" b="b" t="t" l="l"/>
            <a:pathLst>
              <a:path h="728643" w="8930878">
                <a:moveTo>
                  <a:pt x="0" y="0"/>
                </a:moveTo>
                <a:lnTo>
                  <a:pt x="8930878" y="0"/>
                </a:lnTo>
                <a:lnTo>
                  <a:pt x="8930878" y="728643"/>
                </a:lnTo>
                <a:lnTo>
                  <a:pt x="0" y="7286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08" r="0" b="-30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987790"/>
            <a:ext cx="16002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Inovação e Empreendedorismo · Entrega 2: 5 Forças de Porter e Business Model Canvas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508998"/>
            <a:ext cx="1618488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E6E6E6"/>
                </a:solidFill>
                <a:latin typeface="Arimo"/>
                <a:ea typeface="Arimo"/>
                <a:cs typeface="Arimo"/>
                <a:sym typeface="Arimo"/>
              </a:rPr>
              <a:t>Grupo Enrolados: Guilherme Barioni · Iury Xavier da Silva Mangueira · Lilian Mercedes Paye Conde · Marcus Vinícius Duque · Murilo de Souza Vieira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881" y="1028881"/>
            <a:ext cx="520198" cy="520198"/>
          </a:xfrm>
          <a:custGeom>
            <a:avLst/>
            <a:gdLst/>
            <a:ahLst/>
            <a:cxnLst/>
            <a:rect r="r" b="b" t="t" l="l"/>
            <a:pathLst>
              <a:path h="520198" w="520198">
                <a:moveTo>
                  <a:pt x="0" y="0"/>
                </a:moveTo>
                <a:lnTo>
                  <a:pt x="520198" y="0"/>
                </a:lnTo>
                <a:lnTo>
                  <a:pt x="520198" y="520198"/>
                </a:lnTo>
                <a:lnTo>
                  <a:pt x="0" y="52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78676" y="-5075644"/>
            <a:ext cx="10150916" cy="10150916"/>
          </a:xfrm>
          <a:custGeom>
            <a:avLst/>
            <a:gdLst/>
            <a:ahLst/>
            <a:cxnLst/>
            <a:rect r="r" b="b" t="t" l="l"/>
            <a:pathLst>
              <a:path h="10150916" w="10150916">
                <a:moveTo>
                  <a:pt x="0" y="0"/>
                </a:moveTo>
                <a:lnTo>
                  <a:pt x="10150916" y="0"/>
                </a:lnTo>
                <a:lnTo>
                  <a:pt x="10150916" y="10150916"/>
                </a:lnTo>
                <a:lnTo>
                  <a:pt x="0" y="10150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08120" y="2597401"/>
            <a:ext cx="5541121" cy="5245922"/>
            <a:chOff x="0" y="0"/>
            <a:chExt cx="7388162" cy="69945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88098" cy="6994525"/>
            </a:xfrm>
            <a:custGeom>
              <a:avLst/>
              <a:gdLst/>
              <a:ahLst/>
              <a:cxnLst/>
              <a:rect r="r" b="b" t="t" l="l"/>
              <a:pathLst>
                <a:path h="6994525" w="7388098">
                  <a:moveTo>
                    <a:pt x="1545336" y="0"/>
                  </a:moveTo>
                  <a:lnTo>
                    <a:pt x="7388098" y="0"/>
                  </a:lnTo>
                  <a:lnTo>
                    <a:pt x="5842762" y="6994525"/>
                  </a:lnTo>
                  <a:lnTo>
                    <a:pt x="0" y="6994525"/>
                  </a:lnTo>
                  <a:lnTo>
                    <a:pt x="1545336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0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510441" y="2597401"/>
            <a:ext cx="5541121" cy="5245922"/>
            <a:chOff x="0" y="0"/>
            <a:chExt cx="7388162" cy="69945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88098" cy="6994525"/>
            </a:xfrm>
            <a:custGeom>
              <a:avLst/>
              <a:gdLst/>
              <a:ahLst/>
              <a:cxnLst/>
              <a:rect r="r" b="b" t="t" l="l"/>
              <a:pathLst>
                <a:path h="6994525" w="7388098">
                  <a:moveTo>
                    <a:pt x="1545336" y="0"/>
                  </a:moveTo>
                  <a:lnTo>
                    <a:pt x="7388098" y="0"/>
                  </a:lnTo>
                  <a:lnTo>
                    <a:pt x="5842762" y="6994525"/>
                  </a:lnTo>
                  <a:lnTo>
                    <a:pt x="0" y="6994525"/>
                  </a:lnTo>
                  <a:lnTo>
                    <a:pt x="1545336" y="0"/>
                  </a:lnTo>
                  <a:close/>
                </a:path>
              </a:pathLst>
            </a:custGeom>
            <a:blipFill>
              <a:blip r:embed="rId7"/>
              <a:stretch>
                <a:fillRect l="0" t="-21" r="0" b="-2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666359" y="8425444"/>
            <a:ext cx="5752081" cy="469078"/>
          </a:xfrm>
          <a:custGeom>
            <a:avLst/>
            <a:gdLst/>
            <a:ahLst/>
            <a:cxnLst/>
            <a:rect r="r" b="b" t="t" l="l"/>
            <a:pathLst>
              <a:path h="469078" w="5752081">
                <a:moveTo>
                  <a:pt x="0" y="0"/>
                </a:moveTo>
                <a:lnTo>
                  <a:pt x="5752080" y="0"/>
                </a:lnTo>
                <a:lnTo>
                  <a:pt x="5752080" y="469077"/>
                </a:lnTo>
                <a:lnTo>
                  <a:pt x="0" y="4690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55" r="0" b="-75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881" y="2825820"/>
            <a:ext cx="9321479" cy="91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4"/>
              </a:lnSpc>
            </a:pPr>
            <a:r>
              <a:rPr lang="en-US" sz="75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Por que a Smart Ace?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2519" y="1150201"/>
            <a:ext cx="1722244" cy="27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881" y="4424953"/>
            <a:ext cx="67795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tenista amador treina sem métricas objetivas, metas claras ou engajamento. O mercado é grande: 2,6 mi de praticantes no Brasil e TAM de R$ 1,04 bi.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Nesta entrega  respondemos: </a:t>
            </a:r>
            <a:r>
              <a:rPr lang="en-US" sz="2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por que esta startup, e não outra, vai capturar valor e ser rentável?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Resumo executivo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Uma plataforma integrada para um mercado grande, em crescimento e ainda sem solução unificada.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5840" y="2788920"/>
            <a:ext cx="3017520" cy="1783080"/>
            <a:chOff x="0" y="0"/>
            <a:chExt cx="4023360" cy="2377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233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4440" y="2889885"/>
            <a:ext cx="265176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i="true">
                <a:solidFill>
                  <a:srgbClr val="D2F644"/>
                </a:solidFill>
                <a:latin typeface="Anton Italics"/>
                <a:ea typeface="Anton Italics"/>
                <a:cs typeface="Anton Italics"/>
                <a:sym typeface="Anton Italics"/>
              </a:rPr>
              <a:t>R$ 1,04 bi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4440" y="3775710"/>
            <a:ext cx="260604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TAM no Brasil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320540" y="2788920"/>
            <a:ext cx="3017520" cy="1783080"/>
            <a:chOff x="0" y="0"/>
            <a:chExt cx="4023360" cy="2377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233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549140" y="2889885"/>
            <a:ext cx="265176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i="true">
                <a:solidFill>
                  <a:srgbClr val="D2F644"/>
                </a:solidFill>
                <a:latin typeface="Anton Italics"/>
                <a:ea typeface="Anton Italics"/>
                <a:cs typeface="Anton Italics"/>
                <a:sym typeface="Anton Italics"/>
              </a:rPr>
              <a:t>13 mil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49140" y="3775710"/>
            <a:ext cx="26060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usuários no ano 3 (0,5% dos tenistas)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35240" y="2788920"/>
            <a:ext cx="3017520" cy="1783080"/>
            <a:chOff x="0" y="0"/>
            <a:chExt cx="4023360" cy="2377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63840" y="2889885"/>
            <a:ext cx="265176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i="true">
                <a:solidFill>
                  <a:srgbClr val="D2F644"/>
                </a:solidFill>
                <a:latin typeface="Anton Italics"/>
                <a:ea typeface="Anton Italics"/>
                <a:cs typeface="Anton Italics"/>
                <a:sym typeface="Anton Italics"/>
              </a:rPr>
              <a:t>R$ 4,6 mi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63840" y="3775710"/>
            <a:ext cx="26060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receita prevista no ano 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949940" y="2788920"/>
            <a:ext cx="3017520" cy="1783080"/>
            <a:chOff x="0" y="0"/>
            <a:chExt cx="4023360" cy="2377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178540" y="2889885"/>
            <a:ext cx="265176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i="true">
                <a:solidFill>
                  <a:srgbClr val="D2F644"/>
                </a:solidFill>
                <a:latin typeface="Anton Italics"/>
                <a:ea typeface="Anton Italics"/>
                <a:cs typeface="Anton Italics"/>
                <a:sym typeface="Anton Italics"/>
              </a:rPr>
              <a:t>2,8x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78540" y="3775710"/>
            <a:ext cx="26060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LTV/CAC em 3 anos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264640" y="2788920"/>
            <a:ext cx="3017520" cy="1783080"/>
            <a:chOff x="0" y="0"/>
            <a:chExt cx="4023360" cy="2377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493240" y="2889885"/>
            <a:ext cx="265176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i="true">
                <a:solidFill>
                  <a:srgbClr val="D2F644"/>
                </a:solidFill>
                <a:latin typeface="Anton Italics"/>
                <a:ea typeface="Anton Italics"/>
                <a:cs typeface="Anton Italics"/>
                <a:sym typeface="Anton Italics"/>
              </a:rPr>
              <a:t>Ano 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93240" y="3775710"/>
            <a:ext cx="26060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break-even operacional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05840" y="4846320"/>
            <a:ext cx="5257800" cy="4251960"/>
            <a:chOff x="0" y="0"/>
            <a:chExt cx="7010400" cy="5669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1040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669280"/>
                  </a:lnTo>
                  <a:lnTo>
                    <a:pt x="0" y="566928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7010400" cy="56883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Problema e mercado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Amador treina sem métricas, metas ou engajamento.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2,6 mi de tenistas no Brasil e TAM de R$ 1,04 bi (R$ 400/ano).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SwingVision (+500 mil usuários), PlaySight e sensores avulsos validam a demanda, mas cada um cobre só uma parte.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15100" y="4846320"/>
            <a:ext cx="5257800" cy="4251960"/>
            <a:chOff x="0" y="0"/>
            <a:chExt cx="7010400" cy="5669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1040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669280"/>
                  </a:lnTo>
                  <a:lnTo>
                    <a:pt x="0" y="56692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010400" cy="56883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Indústria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Pressão média: setor moderadamente atrativo.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Fornecedores fracos; novos entrantes e substitutos fortes.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Resposta: dados proprietários, integração raquete + bola + gamificação e receita recorrente.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24360" y="4846320"/>
            <a:ext cx="5257800" cy="4251960"/>
            <a:chOff x="0" y="0"/>
            <a:chExt cx="7010400" cy="5669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1040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669280"/>
                  </a:lnTo>
                  <a:lnTo>
                    <a:pt x="0" y="56692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010400" cy="56883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Modelo de negócios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Kit sensor + 12 meses Pro: R$ 399; renovação R$ 199/ano; Arena (clubes) R$ 490/quadra/mês.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Margem de contribuição do kit: 34%; CAC alvo R$ 90.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Aporte estimado de R$ 1,0 mi para chegar ao equilíbrio operacional no ano 3.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Atratividade da indústria: 5 Forças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Pressão de 1 (baixa) a 5 (alta) sobre a rentabilidade; avaliação crítica do grupo, com premissas explícitas.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75120" y="2788920"/>
            <a:ext cx="4937760" cy="1828800"/>
            <a:chOff x="0" y="0"/>
            <a:chExt cx="658368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931152" y="2962275"/>
            <a:ext cx="448056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Novos entrantes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931152" y="3502152"/>
            <a:ext cx="256032" cy="256032"/>
            <a:chOff x="0" y="0"/>
            <a:chExt cx="341376" cy="341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260336" y="3502152"/>
            <a:ext cx="256032" cy="256032"/>
            <a:chOff x="0" y="0"/>
            <a:chExt cx="341376" cy="341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589520" y="3502152"/>
            <a:ext cx="256032" cy="256032"/>
            <a:chOff x="0" y="0"/>
            <a:chExt cx="341376" cy="341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918704" y="3502152"/>
            <a:ext cx="256032" cy="256032"/>
            <a:chOff x="0" y="0"/>
            <a:chExt cx="341376" cy="341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47888" y="3502152"/>
            <a:ext cx="256032" cy="256032"/>
            <a:chOff x="0" y="0"/>
            <a:chExt cx="341376" cy="3413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686800" y="3419475"/>
            <a:ext cx="27432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4/5 · 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31152" y="3885438"/>
            <a:ext cx="448056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Hardware e visão acessíveis; dados e distribuição protegem.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05840" y="5029200"/>
            <a:ext cx="4937760" cy="1828800"/>
            <a:chOff x="0" y="0"/>
            <a:chExt cx="6583680" cy="243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61872" y="5202555"/>
            <a:ext cx="448056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Fornecedores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61872" y="5742432"/>
            <a:ext cx="256032" cy="256032"/>
            <a:chOff x="0" y="0"/>
            <a:chExt cx="341376" cy="3413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91056" y="5742432"/>
            <a:ext cx="256032" cy="256032"/>
            <a:chOff x="0" y="0"/>
            <a:chExt cx="341376" cy="3413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920240" y="5742432"/>
            <a:ext cx="256032" cy="256032"/>
            <a:chOff x="0" y="0"/>
            <a:chExt cx="341376" cy="341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249424" y="5742432"/>
            <a:ext cx="256032" cy="256032"/>
            <a:chOff x="0" y="0"/>
            <a:chExt cx="341376" cy="3413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578608" y="5742432"/>
            <a:ext cx="256032" cy="256032"/>
            <a:chOff x="0" y="0"/>
            <a:chExt cx="341376" cy="3413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3017520" y="5659755"/>
            <a:ext cx="27432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2/5 · BAIXA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1872" y="6125718"/>
            <a:ext cx="448056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Componentes commodity; nuvem é o ponto de atenção.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675120" y="5029200"/>
            <a:ext cx="4937760" cy="1828800"/>
            <a:chOff x="0" y="0"/>
            <a:chExt cx="6583680" cy="2438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931152" y="5202555"/>
            <a:ext cx="448056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0E0E"/>
                </a:solidFill>
                <a:latin typeface="Arimo Bold"/>
                <a:ea typeface="Arimo Bold"/>
                <a:cs typeface="Arimo Bold"/>
                <a:sym typeface="Arimo Bold"/>
              </a:rPr>
              <a:t>Rivalidade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931152" y="5742432"/>
            <a:ext cx="256032" cy="256032"/>
            <a:chOff x="0" y="0"/>
            <a:chExt cx="341376" cy="3413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0F0E0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60336" y="5742432"/>
            <a:ext cx="256032" cy="256032"/>
            <a:chOff x="0" y="0"/>
            <a:chExt cx="341376" cy="3413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0F0E0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589520" y="5742432"/>
            <a:ext cx="256032" cy="256032"/>
            <a:chOff x="0" y="0"/>
            <a:chExt cx="341376" cy="3413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0F0E0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918704" y="5742432"/>
            <a:ext cx="256032" cy="256032"/>
            <a:chOff x="0" y="0"/>
            <a:chExt cx="341376" cy="3413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8FA32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247888" y="5742432"/>
            <a:ext cx="256032" cy="256032"/>
            <a:chOff x="0" y="0"/>
            <a:chExt cx="341376" cy="34137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8FA32E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8686800" y="5659755"/>
            <a:ext cx="27432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F0E0E"/>
                </a:solidFill>
                <a:latin typeface="Arimo Bold"/>
                <a:ea typeface="Arimo Bold"/>
                <a:cs typeface="Arimo Bold"/>
                <a:sym typeface="Arimo Bold"/>
              </a:rPr>
              <a:t>3/5 · MÉDIA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931152" y="6125718"/>
            <a:ext cx="448056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F0E0E"/>
                </a:solidFill>
                <a:latin typeface="Arimo"/>
                <a:ea typeface="Arimo"/>
                <a:cs typeface="Arimo"/>
                <a:sym typeface="Arimo"/>
              </a:rPr>
              <a:t>Rivais cobrem só uma dimensão; mercado em expansão.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344400" y="5029200"/>
            <a:ext cx="4937760" cy="1828800"/>
            <a:chOff x="0" y="0"/>
            <a:chExt cx="6583680" cy="2438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2600432" y="5202555"/>
            <a:ext cx="448056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Clientes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600432" y="5742432"/>
            <a:ext cx="256032" cy="256032"/>
            <a:chOff x="0" y="0"/>
            <a:chExt cx="341376" cy="34137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929616" y="5742432"/>
            <a:ext cx="256032" cy="256032"/>
            <a:chOff x="0" y="0"/>
            <a:chExt cx="341376" cy="3413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258800" y="5742432"/>
            <a:ext cx="256032" cy="256032"/>
            <a:chOff x="0" y="0"/>
            <a:chExt cx="341376" cy="3413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587984" y="5742432"/>
            <a:ext cx="256032" cy="256032"/>
            <a:chOff x="0" y="0"/>
            <a:chExt cx="341376" cy="3413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917168" y="5742432"/>
            <a:ext cx="256032" cy="256032"/>
            <a:chOff x="0" y="0"/>
            <a:chExt cx="341376" cy="34137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4356080" y="5659755"/>
            <a:ext cx="27432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3/5 · MÉDIA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600432" y="6125718"/>
            <a:ext cx="448056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Base pulverizada, mas sensível a preço (âncora R$ 400).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6675120" y="7269480"/>
            <a:ext cx="4937760" cy="1828800"/>
            <a:chOff x="0" y="0"/>
            <a:chExt cx="6583680" cy="2438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6931152" y="7442835"/>
            <a:ext cx="448056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Substitutos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931152" y="7982712"/>
            <a:ext cx="256032" cy="256032"/>
            <a:chOff x="0" y="0"/>
            <a:chExt cx="341376" cy="34137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260336" y="7982712"/>
            <a:ext cx="256032" cy="256032"/>
            <a:chOff x="0" y="0"/>
            <a:chExt cx="341376" cy="34137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7589520" y="7982712"/>
            <a:ext cx="256032" cy="256032"/>
            <a:chOff x="0" y="0"/>
            <a:chExt cx="341376" cy="34137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918704" y="7982712"/>
            <a:ext cx="256032" cy="256032"/>
            <a:chOff x="0" y="0"/>
            <a:chExt cx="341376" cy="34137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247888" y="7982712"/>
            <a:ext cx="256032" cy="256032"/>
            <a:chOff x="0" y="0"/>
            <a:chExt cx="341376" cy="34137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8686800" y="7900035"/>
            <a:ext cx="27432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4/5 · ALTA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931152" y="8365998"/>
            <a:ext cx="448056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Treinador, vídeo no celular e treino por sensação.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6053328" y="5760720"/>
            <a:ext cx="512064" cy="365760"/>
            <a:chOff x="0" y="0"/>
            <a:chExt cx="682752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2752" cy="487680"/>
            </a:xfrm>
            <a:custGeom>
              <a:avLst/>
              <a:gdLst/>
              <a:ahLst/>
              <a:cxnLst/>
              <a:rect r="r" b="b" t="t" l="l"/>
              <a:pathLst>
                <a:path h="487680" w="682752">
                  <a:moveTo>
                    <a:pt x="0" y="121920"/>
                  </a:moveTo>
                  <a:lnTo>
                    <a:pt x="438912" y="121920"/>
                  </a:lnTo>
                  <a:lnTo>
                    <a:pt x="438912" y="0"/>
                  </a:lnTo>
                  <a:lnTo>
                    <a:pt x="682752" y="243840"/>
                  </a:lnTo>
                  <a:lnTo>
                    <a:pt x="438912" y="487680"/>
                  </a:lnTo>
                  <a:lnTo>
                    <a:pt x="438912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722608" y="5760720"/>
            <a:ext cx="512064" cy="365760"/>
            <a:chOff x="0" y="0"/>
            <a:chExt cx="682752" cy="4876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82752" cy="487680"/>
            </a:xfrm>
            <a:custGeom>
              <a:avLst/>
              <a:gdLst/>
              <a:ahLst/>
              <a:cxnLst/>
              <a:rect r="r" b="b" t="t" l="l"/>
              <a:pathLst>
                <a:path h="487680" w="682752">
                  <a:moveTo>
                    <a:pt x="0" y="243840"/>
                  </a:moveTo>
                  <a:lnTo>
                    <a:pt x="243840" y="0"/>
                  </a:lnTo>
                  <a:lnTo>
                    <a:pt x="243840" y="121920"/>
                  </a:lnTo>
                  <a:lnTo>
                    <a:pt x="682752" y="121920"/>
                  </a:lnTo>
                  <a:lnTo>
                    <a:pt x="682752" y="365760"/>
                  </a:lnTo>
                  <a:lnTo>
                    <a:pt x="243840" y="365760"/>
                  </a:lnTo>
                  <a:lnTo>
                    <a:pt x="243840" y="487680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8961120" y="4645152"/>
            <a:ext cx="365760" cy="365760"/>
            <a:chOff x="0" y="0"/>
            <a:chExt cx="487680" cy="4876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lnTo>
                    <a:pt x="121920" y="243840"/>
                  </a:lnTo>
                  <a:lnTo>
                    <a:pt x="121920" y="0"/>
                  </a:lnTo>
                  <a:lnTo>
                    <a:pt x="365760" y="0"/>
                  </a:lnTo>
                  <a:lnTo>
                    <a:pt x="365760" y="243840"/>
                  </a:lnTo>
                  <a:lnTo>
                    <a:pt x="487680" y="243840"/>
                  </a:lnTo>
                  <a:lnTo>
                    <a:pt x="243840" y="487680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8961120" y="6885432"/>
            <a:ext cx="365760" cy="365760"/>
            <a:chOff x="0" y="0"/>
            <a:chExt cx="487680" cy="48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lnTo>
                    <a:pt x="243840" y="0"/>
                  </a:lnTo>
                  <a:lnTo>
                    <a:pt x="487680" y="243840"/>
                  </a:lnTo>
                  <a:lnTo>
                    <a:pt x="365760" y="243840"/>
                  </a:lnTo>
                  <a:lnTo>
                    <a:pt x="365760" y="487680"/>
                  </a:lnTo>
                  <a:lnTo>
                    <a:pt x="121920" y="487680"/>
                  </a:lnTo>
                  <a:lnTo>
                    <a:pt x="121920" y="243840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1005840" y="2779395"/>
            <a:ext cx="493776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Como ler</a:t>
            </a:r>
          </a:p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Notas refletem o efeito de cada força sobre a margem de uma startup de hardware + assinatura no tênis amador brasileiro. Fontes: ITF e Entrega 1; custos e preços são premissas a validar.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2344400" y="7269480"/>
            <a:ext cx="4937760" cy="1828800"/>
            <a:chOff x="0" y="0"/>
            <a:chExt cx="6583680" cy="2438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6583680" cy="24479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Veredito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Pressão média </a:t>
              </a:r>
              <a:r>
                <a:rPr lang="en-US" sz="17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3,2/5</a:t>
              </a:r>
              <a:r>
                <a:rPr lang="en-US" sz="17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: setor </a:t>
              </a:r>
              <a:r>
                <a:rPr lang="en-US" sz="17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moderadamente atrativo</a:t>
              </a:r>
              <a:r>
                <a:rPr lang="en-US" sz="17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. A rentabilidade depende de diferenciação integrada e de receita recorrente.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Rivalidade entre concorrentes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Rivais atacam dimensões isoladas do treino; ninguém entrega a experiência integrada, por enquanto.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5840" y="328422"/>
            <a:ext cx="48463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PRESSÃO NA RENTABILIDADE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435840" y="713232"/>
            <a:ext cx="256032" cy="256032"/>
            <a:chOff x="0" y="0"/>
            <a:chExt cx="341376" cy="341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65024" y="713232"/>
            <a:ext cx="256032" cy="256032"/>
            <a:chOff x="0" y="0"/>
            <a:chExt cx="341376" cy="341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94208" y="713232"/>
            <a:ext cx="256032" cy="256032"/>
            <a:chOff x="0" y="0"/>
            <a:chExt cx="341376" cy="341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23392" y="713232"/>
            <a:ext cx="256032" cy="256032"/>
            <a:chOff x="0" y="0"/>
            <a:chExt cx="341376" cy="341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52576" y="713232"/>
            <a:ext cx="256032" cy="256032"/>
            <a:chOff x="0" y="0"/>
            <a:chExt cx="341376" cy="341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218920" y="621030"/>
            <a:ext cx="3108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3/5 · MÉDIA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5840" y="2788920"/>
            <a:ext cx="5257800" cy="6309360"/>
            <a:chOff x="0" y="0"/>
            <a:chExt cx="7010400" cy="8412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Evidências e dados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b="true" sz="2349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SwingVision:</a:t>
              </a: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IA e vídeo no smartphone, +500 mil usuários e plano básico de ≈ R$ 400/ano.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b="true" sz="2349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PlaySight:</a:t>
              </a: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câmeras fixas e SmartCourt, foco em academias de alto rendimento.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b="true" sz="2349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Sensores avulsos</a:t>
              </a: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(ex.: Sony Smart Tennis Sensor): só dados da raquete, sem bola nem gamificação.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Mercado em expansão: 106 mi de praticantes, +25,6% sobre 2019 (ITF).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5100" y="2788920"/>
            <a:ext cx="5257800" cy="6309360"/>
            <a:chOff x="0" y="0"/>
            <a:chExt cx="7010400" cy="8412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Análise crítica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O crescimento da base amortece a disputa por participação: há espaço para vários players.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Os concorrentes quase não se sobrepõem: nenhum combina raquete, bola e gamificação.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O SwingVision tem escala e marca e pode copiar a integração, por exemplo com um parceiro de sensor.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 lealdade é baixa: trocar de app custa pouco ao usuário.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24360" y="2788920"/>
            <a:ext cx="5257800" cy="6309360"/>
            <a:chOff x="0" y="0"/>
            <a:chExt cx="7010400" cy="841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Resposta da Smart Ace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Competir por </a:t>
              </a:r>
              <a:r>
                <a:rPr lang="en-US" b="true" sz="2349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integração</a:t>
              </a: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, não por feature isolada.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Entrada em R$ 399 (kit + 1 ano), alinhada ao anual do SwingVision.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Histórico, ranking e metas ficam na plataforma e criam fidelidade.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Fechar acordos com clubes em SP antes que o líder global priorize o Brasil.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Ameaça de novos entrantes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As barreiras técnicas são baixas; as que importam são dados, integração e distribuição.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5840" y="328422"/>
            <a:ext cx="48463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PRESSÃO NA RENTABILIDADE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435840" y="713232"/>
            <a:ext cx="256032" cy="256032"/>
            <a:chOff x="0" y="0"/>
            <a:chExt cx="341376" cy="341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65024" y="713232"/>
            <a:ext cx="256032" cy="256032"/>
            <a:chOff x="0" y="0"/>
            <a:chExt cx="341376" cy="341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94208" y="713232"/>
            <a:ext cx="256032" cy="256032"/>
            <a:chOff x="0" y="0"/>
            <a:chExt cx="341376" cy="341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23392" y="713232"/>
            <a:ext cx="256032" cy="256032"/>
            <a:chOff x="0" y="0"/>
            <a:chExt cx="341376" cy="341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52576" y="713232"/>
            <a:ext cx="256032" cy="256032"/>
            <a:chOff x="0" y="0"/>
            <a:chExt cx="341376" cy="341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218920" y="621030"/>
            <a:ext cx="3108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4/5 · ALTA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5840" y="2788920"/>
            <a:ext cx="5257800" cy="6309360"/>
            <a:chOff x="0" y="0"/>
            <a:chExt cx="7010400" cy="8412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Evidências e dados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Hardware acessível: BOM do sensor estimado em ≈ R$ 105 (premissa), com ESP32 e MPU-6050.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Modelos de visão abertos (ex.: YOLO) reduzem o custo de P&amp;D de quem quiser rastrear a bola.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Fabricantes de raquetes e de wearables já têm base instalada e canais de venda.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Produtos com rádio Bluetooth exigem homologação da Anatel: prazo e capital.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5100" y="2788920"/>
            <a:ext cx="5257800" cy="6309360"/>
            <a:chOff x="0" y="0"/>
            <a:chExt cx="7010400" cy="8412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Análise crítica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Copiar o conceito exige dataset rotulado de golpes e bolas, firmware calibrado, hardware homologado e rede de clubes.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 ameaça real é um entrante com capital que monte o produto com módulos prontos e venda em marketplace.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O efeito de rede é fraco no início: ranking e desafios só valem com massa crítica por clube ou cidade.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24360" y="2788920"/>
            <a:ext cx="5257800" cy="6309360"/>
            <a:chOff x="0" y="0"/>
            <a:chExt cx="7010400" cy="841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Resposta da Smart Ace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Construir um </a:t>
              </a:r>
              <a:r>
                <a:rPr lang="en-US" b="true" sz="2349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dataset proprietário</a:t>
              </a: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: cada sessão rotula golpes e trajetórias e melhora o modelo.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Começar por </a:t>
              </a:r>
              <a:r>
                <a:rPr lang="en-US" b="true" sz="2349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clusters</a:t>
              </a: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 (clubes e academias de SP) para ganhar densidade de ranking.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Homologar na Anatel cedo: vira barreira contra cópias informais.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Poder de barganha dos clientes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O jogador amador tem alternativas e olha preço; clubes negociam mais, mas ninguém compra em volume.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5840" y="328422"/>
            <a:ext cx="48463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PRESSÃO NA RENTABILIDADE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435840" y="713232"/>
            <a:ext cx="256032" cy="256032"/>
            <a:chOff x="0" y="0"/>
            <a:chExt cx="341376" cy="341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65024" y="713232"/>
            <a:ext cx="256032" cy="256032"/>
            <a:chOff x="0" y="0"/>
            <a:chExt cx="341376" cy="341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94208" y="713232"/>
            <a:ext cx="256032" cy="256032"/>
            <a:chOff x="0" y="0"/>
            <a:chExt cx="341376" cy="341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23392" y="713232"/>
            <a:ext cx="256032" cy="256032"/>
            <a:chOff x="0" y="0"/>
            <a:chExt cx="341376" cy="341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52576" y="713232"/>
            <a:ext cx="256032" cy="256032"/>
            <a:chOff x="0" y="0"/>
            <a:chExt cx="341376" cy="341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218920" y="621030"/>
            <a:ext cx="3108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3/5 · MÉDIA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5840" y="2788920"/>
            <a:ext cx="5257800" cy="6309360"/>
            <a:chOff x="0" y="0"/>
            <a:chExt cx="7010400" cy="8412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Evidências e dados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2,6 mi de praticantes (1,2% da população): base pulverizada, nenhum cliente pesa na receita.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Âncora de preço: R$ 400/ano do SwingVision; o cliente compara por ela.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Amadores querem evoluir, mas não identificam os próprios erros: indício de disposição a pagar, a validar em campo.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Clubes e academias: poucos compradores, com PlaySight como alternativa.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5100" y="2788920"/>
            <a:ext cx="5257800" cy="6309360"/>
            <a:chOff x="0" y="0"/>
            <a:chExt cx="7010400" cy="8412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Análise crítica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Custo de troca baixo no software (assinatura anual); o sensor na raquete cria um custo de troca real.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Hardware + assinatura exigem prova de valor rápida; compra por impulso é improvável.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No B2B o poder de negociação é alto, mas contratos por quadra e pilotos limitam o risco.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24360" y="2788920"/>
            <a:ext cx="5257800" cy="6309360"/>
            <a:chOff x="0" y="0"/>
            <a:chExt cx="7010400" cy="841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Resposta da Smart Ace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Plano </a:t>
              </a:r>
              <a:r>
                <a:rPr lang="en-US" b="true" sz="2349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Free</a:t>
              </a: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 para provar valor antes de cobrar o Pro.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Renovação a R$ 199/ano, 50% abaixo da âncora.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Gamificação e histórico evolutivo aumentam o custo de troca.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B2B: piloto de 60 dias em clubes e depois licença de R$ 400 por quadra/mês.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Poder de barganha dos fornecedores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Os componentes são commodity; o poder real está na nuvem e no câmbio, ambos mitigáveis.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5840" y="328422"/>
            <a:ext cx="48463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PRESSÃO NA RENTABILIDADE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435840" y="713232"/>
            <a:ext cx="256032" cy="256032"/>
            <a:chOff x="0" y="0"/>
            <a:chExt cx="341376" cy="341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65024" y="713232"/>
            <a:ext cx="256032" cy="256032"/>
            <a:chOff x="0" y="0"/>
            <a:chExt cx="341376" cy="341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94208" y="713232"/>
            <a:ext cx="256032" cy="256032"/>
            <a:chOff x="0" y="0"/>
            <a:chExt cx="341376" cy="341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23392" y="713232"/>
            <a:ext cx="256032" cy="256032"/>
            <a:chOff x="0" y="0"/>
            <a:chExt cx="341376" cy="341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52576" y="713232"/>
            <a:ext cx="256032" cy="256032"/>
            <a:chOff x="0" y="0"/>
            <a:chExt cx="341376" cy="341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218920" y="621030"/>
            <a:ext cx="3108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2/5 · BAIXA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5840" y="2788920"/>
            <a:ext cx="5257800" cy="6309360"/>
            <a:chOff x="0" y="0"/>
            <a:chExt cx="7010400" cy="8412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Evidências e dados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Núcleo do sensor: ESP32 (Bluetooth) + MPU-6050 (acelerômetro e giroscópio), vendidos por muitos distribuidores.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Bateria LiPo, carregador e case são itens padronizados; montagem em EMS local ou própria nos primeiros lotes.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Câmera: smartphone do usuário ou do clube em tripé, sem fornecedor de hardware de visão no B2C.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Nuvem e GPU: poucos provedores globais; custo variável por sessão processada.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5100" y="2788920"/>
            <a:ext cx="5257800" cy="6309360"/>
            <a:chOff x="0" y="0"/>
            <a:chExt cx="7010400" cy="8412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Análise crítica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Baixa dependência: trocar um componente exige ajuste de firmware, não redesenho do produto.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Riscos: câmbio (componentes em dólar), tarifas de importação e falta pontual de chips.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 nuvem é o fornecedor mais forte: o custo cresce com o uso e pode corroer a margem (premissa: R$ 1,20 por sessão com vídeo).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24360" y="2788920"/>
            <a:ext cx="5257800" cy="6309360"/>
            <a:chOff x="0" y="0"/>
            <a:chExt cx="7010400" cy="841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Resposta da Smart Ace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BOM modular, 2 fornecedores qualificados por componente e estoque de segurança de 1 lote.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Parte da inferência no smartphone ou na borda; o resto em lote, fora do horário de pico.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Créditos de nuvem para startups e </a:t>
              </a:r>
              <a:r>
                <a:rPr lang="en-US" b="true" sz="2150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custo por sessão</a:t>
              </a:r>
              <a:r>
                <a:rPr lang="en-US" sz="21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 como KPI mensal.</a:t>
              </a:r>
            </a:p>
            <a:p>
              <a:pPr algn="l" marL="259398" indent="-129699" lvl="1">
                <a:lnSpc>
                  <a:spcPts val="2580"/>
                </a:lnSpc>
                <a:buFont typeface="Arial"/>
                <a:buChar char="•"/>
              </a:pPr>
              <a:r>
                <a:rPr lang="en-US" sz="21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Pro inclui quatidade limitada de sessões de vídeo por mês (uso justo).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Ameaça de produtos substitutos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O rival mais forte não é outro app: é o treinador, o vídeo no celular e o treino por sensação.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5840" y="328422"/>
            <a:ext cx="48463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PRESSÃO NA RENTABILIDADE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435840" y="713232"/>
            <a:ext cx="256032" cy="256032"/>
            <a:chOff x="0" y="0"/>
            <a:chExt cx="341376" cy="341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65024" y="713232"/>
            <a:ext cx="256032" cy="256032"/>
            <a:chOff x="0" y="0"/>
            <a:chExt cx="341376" cy="341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94208" y="713232"/>
            <a:ext cx="256032" cy="256032"/>
            <a:chOff x="0" y="0"/>
            <a:chExt cx="341376" cy="341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23392" y="713232"/>
            <a:ext cx="256032" cy="256032"/>
            <a:chOff x="0" y="0"/>
            <a:chExt cx="341376" cy="341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52576" y="713232"/>
            <a:ext cx="256032" cy="256032"/>
            <a:chOff x="0" y="0"/>
            <a:chExt cx="341376" cy="341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218920" y="621030"/>
            <a:ext cx="3108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4/5 · ALTA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5840" y="2788920"/>
            <a:ext cx="5257800" cy="6309360"/>
            <a:chOff x="0" y="0"/>
            <a:chExt cx="7010400" cy="8412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Evidências e dados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b="true" sz="2349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Treinador humano:</a:t>
              </a: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feedback técnico completo, mas caro e com hora marcada (estimativa a validar: R$ 100 a R$ 200 por hora).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b="true" sz="2349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Vídeo no celular e tutoriais:</a:t>
              </a: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grátis, porém subjetivos e sem métricas.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b="true" sz="2349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Smartwatches e apps de fitness:</a:t>
              </a: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medem esforço, não a mecânica do golpe.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Treino "no feeling": prática comum do amador sem treinador.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5100" y="2788920"/>
            <a:ext cx="5257800" cy="6309360"/>
            <a:chOff x="0" y="0"/>
            <a:chExt cx="7010400" cy="8412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Análise crítica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Os substitutos são baratos e familiares: a ameaça é a </a:t>
              </a:r>
              <a:r>
                <a:rPr lang="en-US" b="true" sz="2349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inércia</a:t>
              </a: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, não uma tecnologia superior.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O treinador também é </a:t>
              </a:r>
              <a:r>
                <a:rPr lang="en-US" b="true" sz="2349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complemento</a:t>
              </a: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: quem treina com professor quer dados entre as aulas.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Preço relativo favorece: o kit de R$ 399 equivale a 2 a 4 horas-aula (estimativa).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24360" y="2788920"/>
            <a:ext cx="5257800" cy="6309360"/>
            <a:chOff x="0" y="0"/>
            <a:chExt cx="7010400" cy="841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104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010400" cy="84315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Resposta da Smart Ace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Posicionar como </a:t>
              </a:r>
              <a:r>
                <a:rPr lang="en-US" b="true" sz="2349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copiloto do treinador</a:t>
              </a: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: relatório compartilhável com o professor.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Vender resultado: evolução medida semana a semana.</a:t>
              </a:r>
            </a:p>
            <a:p>
              <a:pPr algn="l" marL="283527" indent="-141764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Onboarding em minutos: sensor na raquete, parear por Bluetooth e jogar.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Síntese: o setor é atrativo?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Moderadamente: demanda em alta e fornecedores fracos compensam entrantes e substitutos fortes.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5840" y="2769870"/>
            <a:ext cx="347472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FORÇA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63440" y="2769870"/>
            <a:ext cx="365760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PRESSÃO (1 A 5)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61120" y="2769870"/>
            <a:ext cx="731520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RESPOSTA ESTRATÉGICA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5840" y="3246120"/>
            <a:ext cx="16276320" cy="804672"/>
            <a:chOff x="0" y="0"/>
            <a:chExt cx="21701760" cy="1072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01761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3246120"/>
            <a:ext cx="3291840" cy="804672"/>
            <a:chOff x="0" y="0"/>
            <a:chExt cx="4389120" cy="1072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38912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Rivalidade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663440" y="3520440"/>
            <a:ext cx="3657600" cy="256032"/>
            <a:chOff x="0" y="0"/>
            <a:chExt cx="4876800" cy="3413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76800" cy="341376"/>
            </a:xfrm>
            <a:custGeom>
              <a:avLst/>
              <a:gdLst/>
              <a:ahLst/>
              <a:cxnLst/>
              <a:rect r="r" b="b" t="t" l="l"/>
              <a:pathLst>
                <a:path h="34137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63440" y="3520440"/>
            <a:ext cx="2194560" cy="256032"/>
            <a:chOff x="0" y="0"/>
            <a:chExt cx="2926080" cy="3413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6080" cy="341376"/>
            </a:xfrm>
            <a:custGeom>
              <a:avLst/>
              <a:gdLst/>
              <a:ahLst/>
              <a:cxnLst/>
              <a:rect r="r" b="b" t="t" l="l"/>
              <a:pathLst>
                <a:path h="34137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366760" y="3246120"/>
            <a:ext cx="548640" cy="804672"/>
            <a:chOff x="0" y="0"/>
            <a:chExt cx="731520" cy="1072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3152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52560" y="3246120"/>
            <a:ext cx="8046720" cy="804672"/>
            <a:chOff x="0" y="0"/>
            <a:chExt cx="10728960" cy="10728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89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72896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Integração raquete + bola + gamificação; entrada em R$ 399, ao lado da âncora de R$ 400.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4178808"/>
            <a:ext cx="16276320" cy="804672"/>
            <a:chOff x="0" y="0"/>
            <a:chExt cx="21701760" cy="10728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01761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" y="4178808"/>
            <a:ext cx="3291840" cy="804672"/>
            <a:chOff x="0" y="0"/>
            <a:chExt cx="4389120" cy="10728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89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38912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Novos entrantes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663440" y="4453128"/>
            <a:ext cx="3657600" cy="256032"/>
            <a:chOff x="0" y="0"/>
            <a:chExt cx="4876800" cy="3413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76800" cy="341376"/>
            </a:xfrm>
            <a:custGeom>
              <a:avLst/>
              <a:gdLst/>
              <a:ahLst/>
              <a:cxnLst/>
              <a:rect r="r" b="b" t="t" l="l"/>
              <a:pathLst>
                <a:path h="34137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663440" y="4453128"/>
            <a:ext cx="2926080" cy="256032"/>
            <a:chOff x="0" y="0"/>
            <a:chExt cx="3901440" cy="3413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01440" cy="341376"/>
            </a:xfrm>
            <a:custGeom>
              <a:avLst/>
              <a:gdLst/>
              <a:ahLst/>
              <a:cxnLst/>
              <a:rect r="r" b="b" t="t" l="l"/>
              <a:pathLst>
                <a:path h="34137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366760" y="4178808"/>
            <a:ext cx="548640" cy="804672"/>
            <a:chOff x="0" y="0"/>
            <a:chExt cx="731520" cy="1072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73152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52560" y="4178808"/>
            <a:ext cx="8046720" cy="804672"/>
            <a:chOff x="0" y="0"/>
            <a:chExt cx="10728960" cy="10728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289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72896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Dataset proprietário, clusters de clubes.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05840" y="5111496"/>
            <a:ext cx="16276320" cy="804672"/>
            <a:chOff x="0" y="0"/>
            <a:chExt cx="21701760" cy="10728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01761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34440" y="5111496"/>
            <a:ext cx="3291840" cy="804672"/>
            <a:chOff x="0" y="0"/>
            <a:chExt cx="4389120" cy="10728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89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38912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Clientes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663440" y="5385816"/>
            <a:ext cx="3657600" cy="256032"/>
            <a:chOff x="0" y="0"/>
            <a:chExt cx="4876800" cy="3413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76800" cy="341376"/>
            </a:xfrm>
            <a:custGeom>
              <a:avLst/>
              <a:gdLst/>
              <a:ahLst/>
              <a:cxnLst/>
              <a:rect r="r" b="b" t="t" l="l"/>
              <a:pathLst>
                <a:path h="34137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663440" y="5385816"/>
            <a:ext cx="2194560" cy="256032"/>
            <a:chOff x="0" y="0"/>
            <a:chExt cx="2926080" cy="3413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26080" cy="341376"/>
            </a:xfrm>
            <a:custGeom>
              <a:avLst/>
              <a:gdLst/>
              <a:ahLst/>
              <a:cxnLst/>
              <a:rect r="r" b="b" t="t" l="l"/>
              <a:pathLst>
                <a:path h="34137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366760" y="5111496"/>
            <a:ext cx="548640" cy="804672"/>
            <a:chOff x="0" y="0"/>
            <a:chExt cx="731520" cy="10728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73152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052560" y="5111496"/>
            <a:ext cx="8046720" cy="804672"/>
            <a:chOff x="0" y="0"/>
            <a:chExt cx="10728960" cy="10728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72896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Plano Free, renovação 50% abaixo da âncora e histórico que eleva o custo de troca.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05840" y="6044184"/>
            <a:ext cx="16276320" cy="804672"/>
            <a:chOff x="0" y="0"/>
            <a:chExt cx="21701760" cy="10728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701761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34440" y="6044184"/>
            <a:ext cx="3291840" cy="804672"/>
            <a:chOff x="0" y="0"/>
            <a:chExt cx="4389120" cy="10728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438912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Fornecedores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663440" y="6318504"/>
            <a:ext cx="3657600" cy="256032"/>
            <a:chOff x="0" y="0"/>
            <a:chExt cx="4876800" cy="34137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76800" cy="341376"/>
            </a:xfrm>
            <a:custGeom>
              <a:avLst/>
              <a:gdLst/>
              <a:ahLst/>
              <a:cxnLst/>
              <a:rect r="r" b="b" t="t" l="l"/>
              <a:pathLst>
                <a:path h="34137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663440" y="6318504"/>
            <a:ext cx="1463040" cy="256032"/>
            <a:chOff x="0" y="0"/>
            <a:chExt cx="1950720" cy="3413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50720" cy="341376"/>
            </a:xfrm>
            <a:custGeom>
              <a:avLst/>
              <a:gdLst/>
              <a:ahLst/>
              <a:cxnLst/>
              <a:rect r="r" b="b" t="t" l="l"/>
              <a:pathLst>
                <a:path h="341376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366760" y="6044184"/>
            <a:ext cx="548640" cy="804672"/>
            <a:chOff x="0" y="0"/>
            <a:chExt cx="731520" cy="10728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73152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052560" y="6044184"/>
            <a:ext cx="8046720" cy="804672"/>
            <a:chOff x="0" y="0"/>
            <a:chExt cx="10728960" cy="10728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7289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1072896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BOM modular com 2 fornecedores; inferência híbrida entre borda e nuvem.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05840" y="6976872"/>
            <a:ext cx="16276320" cy="804672"/>
            <a:chOff x="0" y="0"/>
            <a:chExt cx="21701760" cy="10728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701761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34440" y="6976872"/>
            <a:ext cx="3291840" cy="804672"/>
            <a:chOff x="0" y="0"/>
            <a:chExt cx="4389120" cy="10728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389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38912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Substitutos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663440" y="7251192"/>
            <a:ext cx="3657600" cy="256032"/>
            <a:chOff x="0" y="0"/>
            <a:chExt cx="4876800" cy="34137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876800" cy="341376"/>
            </a:xfrm>
            <a:custGeom>
              <a:avLst/>
              <a:gdLst/>
              <a:ahLst/>
              <a:cxnLst/>
              <a:rect r="r" b="b" t="t" l="l"/>
              <a:pathLst>
                <a:path h="34137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A3939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663440" y="7251192"/>
            <a:ext cx="2926080" cy="256032"/>
            <a:chOff x="0" y="0"/>
            <a:chExt cx="3901440" cy="34137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901440" cy="341376"/>
            </a:xfrm>
            <a:custGeom>
              <a:avLst/>
              <a:gdLst/>
              <a:ahLst/>
              <a:cxnLst/>
              <a:rect r="r" b="b" t="t" l="l"/>
              <a:pathLst>
                <a:path h="34137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366760" y="6976872"/>
            <a:ext cx="548640" cy="804672"/>
            <a:chOff x="0" y="0"/>
            <a:chExt cx="731520" cy="10728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73152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052560" y="6976872"/>
            <a:ext cx="8046720" cy="804672"/>
            <a:chOff x="0" y="0"/>
            <a:chExt cx="10728960" cy="10728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7289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1072896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Copiloto do treinador, com relatórios para o professor.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05840" y="8001000"/>
            <a:ext cx="16276320" cy="1097280"/>
            <a:chOff x="0" y="0"/>
            <a:chExt cx="21701760" cy="14630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70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21701760" cy="1472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Conclusão:</a:t>
              </a:r>
              <a:r>
                <a:rPr lang="en-US" sz="20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 pressão média de 3,2/5. A rentabilidade exige receita recorrente, dados proprietários e canal via clubes, que é o que o Business Model Canvas a seguir operacionaliza.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2F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1480" y="283845"/>
            <a:ext cx="1280160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i="true">
                <a:solidFill>
                  <a:srgbClr val="0F0E0E"/>
                </a:solidFill>
                <a:latin typeface="Anton Italics"/>
                <a:ea typeface="Anton Italics"/>
                <a:cs typeface="Anton Italics"/>
                <a:sym typeface="Anton Italics"/>
              </a:rPr>
              <a:t>Business Model Canvas · Smart Ace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5760" y="1325880"/>
            <a:ext cx="3364992" cy="6172200"/>
            <a:chOff x="0" y="0"/>
            <a:chExt cx="4486656" cy="822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6656" cy="8229600"/>
            </a:xfrm>
            <a:custGeom>
              <a:avLst/>
              <a:gdLst/>
              <a:ahLst/>
              <a:cxnLst/>
              <a:rect r="r" b="b" t="t" l="l"/>
              <a:pathLst>
                <a:path h="822960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8229600"/>
                  </a:lnTo>
                  <a:lnTo>
                    <a:pt x="0" y="8229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486656" cy="82391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Parcerias-chave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Clubes, academias e professores (distribuição e validação)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Federações e ligas (credibilidade, torneios)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EMS e distribuidores de componentes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Provedores de nuvem (créditos para startups)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Fomento: FAPESP PIPE, Finep, Sebrae (a avaliar)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913632" y="1325880"/>
            <a:ext cx="3364992" cy="2994660"/>
            <a:chOff x="0" y="0"/>
            <a:chExt cx="4486656" cy="399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6656" cy="3992880"/>
            </a:xfrm>
            <a:custGeom>
              <a:avLst/>
              <a:gdLst/>
              <a:ahLst/>
              <a:cxnLst/>
              <a:rect r="r" b="b" t="t" l="l"/>
              <a:pathLst>
                <a:path h="399288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3992880"/>
                  </a:lnTo>
                  <a:lnTo>
                    <a:pt x="0" y="3992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4486656" cy="400240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Atividades-chave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P&amp;D: golpes e tracking da bola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App Android, backend e nuvem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Montagem teste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Comunidade e ligas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13632" y="4503420"/>
            <a:ext cx="3364992" cy="2994660"/>
            <a:chOff x="0" y="0"/>
            <a:chExt cx="4486656" cy="3992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86656" cy="3992880"/>
            </a:xfrm>
            <a:custGeom>
              <a:avLst/>
              <a:gdLst/>
              <a:ahLst/>
              <a:cxnLst/>
              <a:rect r="r" b="b" t="t" l="l"/>
              <a:pathLst>
                <a:path h="399288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3992880"/>
                  </a:lnTo>
                  <a:lnTo>
                    <a:pt x="0" y="3992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4486656" cy="400240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Recursos-chave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Firmware ESP32 + MPU-6050 e modelo de visão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Dataset rotulado de golpes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Marca e plataforma Arena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61504" y="1325880"/>
            <a:ext cx="3364992" cy="6172200"/>
            <a:chOff x="0" y="0"/>
            <a:chExt cx="4486656" cy="822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86656" cy="8229600"/>
            </a:xfrm>
            <a:custGeom>
              <a:avLst/>
              <a:gdLst/>
              <a:ahLst/>
              <a:cxnLst/>
              <a:rect r="r" b="b" t="t" l="l"/>
              <a:pathLst>
                <a:path h="822960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8229600"/>
                  </a:lnTo>
                  <a:lnTo>
                    <a:pt x="0" y="8229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486656" cy="82391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Proposta de valor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Seu treinador de dados na quadra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Raquete + bola + gamificação em uma só experiência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Tipo de golpe, velocidade, trajetória, spin e local de impacto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Metas, desafios e pontos que mantêm o treino divertido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Evolução comparável semana a semana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Para o clube: dashboard do treinador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09376" y="1325880"/>
            <a:ext cx="3364992" cy="2994660"/>
            <a:chOff x="0" y="0"/>
            <a:chExt cx="4486656" cy="3992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86656" cy="3992880"/>
            </a:xfrm>
            <a:custGeom>
              <a:avLst/>
              <a:gdLst/>
              <a:ahLst/>
              <a:cxnLst/>
              <a:rect r="r" b="b" t="t" l="l"/>
              <a:pathLst>
                <a:path h="399288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3992880"/>
                  </a:lnTo>
                  <a:lnTo>
                    <a:pt x="0" y="3992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486656" cy="400240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Relacionamento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Self-service no app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Ranking e ligas por clube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Programa beta com early adopters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B2B: onboarding e conta dedicada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09376" y="4503420"/>
            <a:ext cx="3364992" cy="2994660"/>
            <a:chOff x="0" y="0"/>
            <a:chExt cx="4486656" cy="3992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86656" cy="3992880"/>
            </a:xfrm>
            <a:custGeom>
              <a:avLst/>
              <a:gdLst/>
              <a:ahLst/>
              <a:cxnLst/>
              <a:rect r="r" b="b" t="t" l="l"/>
              <a:pathLst>
                <a:path h="399288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3992880"/>
                  </a:lnTo>
                  <a:lnTo>
                    <a:pt x="0" y="3992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4486656" cy="400240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Canais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App (Google Play) e site com o kit</a:t>
              </a:r>
            </a:p>
            <a:p>
              <a:pPr algn="l" marL="205105" indent="-102553" lvl="1">
                <a:lnSpc>
                  <a:spcPts val="2040"/>
                </a:lnSpc>
                <a:buFont typeface="Arial"/>
                <a:buChar char="•"/>
              </a:pP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Revenda em clubes e lojas de tênis</a:t>
              </a:r>
            </a:p>
            <a:p>
              <a:pPr algn="l">
                <a:lnSpc>
                  <a:spcPts val="20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557248" y="1325880"/>
            <a:ext cx="3364992" cy="6172200"/>
            <a:chOff x="0" y="0"/>
            <a:chExt cx="4486656" cy="822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86656" cy="8229600"/>
            </a:xfrm>
            <a:custGeom>
              <a:avLst/>
              <a:gdLst/>
              <a:ahLst/>
              <a:cxnLst/>
              <a:rect r="r" b="b" t="t" l="l"/>
              <a:pathLst>
                <a:path h="822960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8229600"/>
                  </a:lnTo>
                  <a:lnTo>
                    <a:pt x="0" y="8229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486656" cy="82391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Segmentos de clientes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1. Amador sem treinador</a:t>
              </a: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(foco): iniciante a intermediário, 2,6 mi no Brasil.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2. Amador com professor:</a:t>
              </a: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quer dados entre as aulas.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3. Clubes, academias e escolas (B2B):</a:t>
              </a: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licença por quadra e dashboard do treinador.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5760" y="7680960"/>
            <a:ext cx="8686800" cy="2240280"/>
            <a:chOff x="0" y="0"/>
            <a:chExt cx="11582400" cy="2987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582400" cy="2987040"/>
            </a:xfrm>
            <a:custGeom>
              <a:avLst/>
              <a:gdLst/>
              <a:ahLst/>
              <a:cxnLst/>
              <a:rect r="r" b="b" t="t" l="l"/>
              <a:pathLst>
                <a:path h="298704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2987040"/>
                  </a:lnTo>
                  <a:lnTo>
                    <a:pt x="0" y="2987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1582400" cy="29965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Estrutura de custos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Variáveis:</a:t>
              </a: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CMV do kit R$ 140; nuvem R$ 1,20 por sessão; impostos e taxas ≈ 12%; CAC R$ 90. </a:t>
              </a:r>
              <a:r>
                <a:rPr lang="en-US" sz="1700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Fixos:</a:t>
              </a: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equipe, nuvem base, marketing e jurídico (R$ 40 mil/mês no ano 1). </a:t>
              </a:r>
              <a:r>
                <a:rPr lang="en-US" sz="1700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Investimento inicial:</a:t>
              </a: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≈ R$ 110 mil.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35440" y="7680960"/>
            <a:ext cx="8686800" cy="2240280"/>
            <a:chOff x="0" y="0"/>
            <a:chExt cx="11582400" cy="2987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82400" cy="2987040"/>
            </a:xfrm>
            <a:custGeom>
              <a:avLst/>
              <a:gdLst/>
              <a:ahLst/>
              <a:cxnLst/>
              <a:rect r="r" b="b" t="t" l="l"/>
              <a:pathLst>
                <a:path h="298704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2987040"/>
                  </a:lnTo>
                  <a:lnTo>
                    <a:pt x="0" y="2987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1582400" cy="29965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Fontes de receita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Kit</a:t>
              </a: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sensor + 12 meses Pro: R$ 399. </a:t>
              </a:r>
              <a:r>
                <a:rPr lang="en-US" sz="1700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Renovação Pro:</a:t>
              </a: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R$ 199/ano (mensal R$ 29,90). </a:t>
              </a:r>
              <a:r>
                <a:rPr lang="en-US" sz="1700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Arena (B2B):</a:t>
              </a: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R$ 490 por quadra/mês. </a:t>
              </a:r>
              <a:r>
                <a:rPr lang="en-US" sz="1700" b="true">
                  <a:solidFill>
                    <a:srgbClr val="264C3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Upside fora das projeções:</a:t>
              </a:r>
              <a:r>
                <a:rPr lang="en-US" sz="1700">
                  <a:solidFill>
                    <a:srgbClr val="264C3D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desafios patrocinados e acessórios.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Proposta de valor e segmentos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Cada dor mapeada  vira uma entrega concreta do produto.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916168" y="3566160"/>
            <a:ext cx="502920" cy="365760"/>
            <a:chOff x="0" y="0"/>
            <a:chExt cx="670560" cy="48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56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">
                  <a:moveTo>
                    <a:pt x="0" y="121920"/>
                  </a:moveTo>
                  <a:lnTo>
                    <a:pt x="426720" y="121920"/>
                  </a:lnTo>
                  <a:lnTo>
                    <a:pt x="426720" y="0"/>
                  </a:lnTo>
                  <a:lnTo>
                    <a:pt x="670560" y="243840"/>
                  </a:lnTo>
                  <a:lnTo>
                    <a:pt x="426720" y="487680"/>
                  </a:lnTo>
                  <a:lnTo>
                    <a:pt x="42672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916168" y="5760720"/>
            <a:ext cx="502920" cy="365760"/>
            <a:chOff x="0" y="0"/>
            <a:chExt cx="670560" cy="487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056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">
                  <a:moveTo>
                    <a:pt x="0" y="121920"/>
                  </a:moveTo>
                  <a:lnTo>
                    <a:pt x="426720" y="121920"/>
                  </a:lnTo>
                  <a:lnTo>
                    <a:pt x="426720" y="0"/>
                  </a:lnTo>
                  <a:lnTo>
                    <a:pt x="670560" y="243840"/>
                  </a:lnTo>
                  <a:lnTo>
                    <a:pt x="426720" y="487680"/>
                  </a:lnTo>
                  <a:lnTo>
                    <a:pt x="42672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16168" y="7955280"/>
            <a:ext cx="502920" cy="365760"/>
            <a:chOff x="0" y="0"/>
            <a:chExt cx="670560" cy="487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056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">
                  <a:moveTo>
                    <a:pt x="0" y="121920"/>
                  </a:moveTo>
                  <a:lnTo>
                    <a:pt x="426720" y="121920"/>
                  </a:lnTo>
                  <a:lnTo>
                    <a:pt x="426720" y="0"/>
                  </a:lnTo>
                  <a:lnTo>
                    <a:pt x="670560" y="243840"/>
                  </a:lnTo>
                  <a:lnTo>
                    <a:pt x="426720" y="487680"/>
                  </a:lnTo>
                  <a:lnTo>
                    <a:pt x="42672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2788920"/>
            <a:ext cx="4846320" cy="1920240"/>
            <a:chOff x="0" y="0"/>
            <a:chExt cx="6461760" cy="2560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617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461760" cy="2579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Compreender o desempenho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Dados objetivos da mecânica dos golpes, comparáveis entre sessões.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4983480"/>
            <a:ext cx="4846320" cy="1920240"/>
            <a:chOff x="0" y="0"/>
            <a:chExt cx="6461760" cy="2560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617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461760" cy="2579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Ter objetivos claros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Sair do "bater bolas" e treinar com metas.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7178040"/>
            <a:ext cx="4846320" cy="1920240"/>
            <a:chOff x="0" y="0"/>
            <a:chExt cx="6461760" cy="2560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617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461760" cy="2579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Manter o engajamento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Vencer a monotonia dos exercícios repetitivos.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240" y="2788920"/>
            <a:ext cx="4937760" cy="1920240"/>
            <a:chOff x="0" y="0"/>
            <a:chExt cx="6583680" cy="2560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583680" cy="2579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Solução Smart Ace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Sensor + câmera: tipo de golpe, velocidade, trajetória, spin e local de impacto; histórico entre sessões.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92240" y="4983480"/>
            <a:ext cx="4937760" cy="1920240"/>
            <a:chOff x="0" y="0"/>
            <a:chExt cx="6583680" cy="2560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583680" cy="2579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Solução Smart Ace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Desafios e metas por golpe e por região da quadra, com pontuação ao vivo.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92240" y="7178040"/>
            <a:ext cx="4937760" cy="1920240"/>
            <a:chOff x="0" y="0"/>
            <a:chExt cx="6583680" cy="2560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583680" cy="2579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Solução Smart Ace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Pontos, rankings e ligas por clube; conquistas semanais.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795760" y="2788920"/>
            <a:ext cx="5486400" cy="6309360"/>
            <a:chOff x="0" y="0"/>
            <a:chExt cx="7315200" cy="8412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7315200" cy="842200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Segmentos de clientes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 Amador sem treinador (foco)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Persona hipotética: Rafa, 28, treina 2x por semana em quadra pública. 2,6 mi de tenistas no Brasil.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2. Amador com professor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Persona hipotética: Carla, 42, 1 aula por semana; quer dados entre as aulas.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3. Clubes e academias (B2B)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Clube com 4 quadras: R$ 1.960/mês pelo dashboard do treinador, ligas e relatórios.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Canais e relacionamento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Aquisição barata via comunidades e clubes; retenção via histórico, ranking e desafios.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5840" y="2788920"/>
            <a:ext cx="3840480" cy="4114800"/>
            <a:chOff x="0" y="0"/>
            <a:chExt cx="5120640" cy="54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06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120640" cy="55054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 Descoberta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r/10s, Instagram e YouTube de tênis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Vídeos mostrando métricas ao vivo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Professores e clubes parceiros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Torneios e ligas amadoras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51120" y="2788920"/>
            <a:ext cx="3840480" cy="4114800"/>
            <a:chOff x="0" y="0"/>
            <a:chExt cx="5120640" cy="548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206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120640" cy="55054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2. Compra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Site próprio e marketplaces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Revenda em clubes e lojas de tênis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Kit sensor + 12 meses Pro por R$ 399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2788920"/>
            <a:ext cx="3840480" cy="4114800"/>
            <a:chOff x="0" y="0"/>
            <a:chExt cx="5120640" cy="54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120640" cy="55054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3. Uso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Pareamento por Bluetooth em minutos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Plano Free com histórico de 30 dias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Desafios semanais e relatório para o professor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441680" y="2788920"/>
            <a:ext cx="3840480" cy="4114800"/>
            <a:chOff x="0" y="0"/>
            <a:chExt cx="5120640" cy="548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120640" cy="55054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4. Retenção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Ranking e ligas por clube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Histórico evolutivo e metas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Renovação a R$ 199/ano</a:t>
              </a:r>
            </a:p>
            <a:p>
              <a:pPr algn="l" marL="277495" indent="-138748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Programa beta e comunidade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7178040"/>
            <a:ext cx="3840480" cy="1920240"/>
            <a:chOff x="0" y="0"/>
            <a:chExt cx="5120640" cy="2560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120640" cy="2579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B9B9B9"/>
                  </a:solidFill>
                  <a:latin typeface="Arimo"/>
                  <a:ea typeface="Arimo"/>
                  <a:cs typeface="Arimo"/>
                  <a:sym typeface="Arimo"/>
                </a:rPr>
                <a:t>META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CAC alvo ≤ R$ 90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51120" y="7178040"/>
            <a:ext cx="3840480" cy="1920240"/>
            <a:chOff x="0" y="0"/>
            <a:chExt cx="5120640" cy="2560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120640" cy="2579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B9B9B9"/>
                  </a:solidFill>
                  <a:latin typeface="Arimo"/>
                  <a:ea typeface="Arimo"/>
                  <a:cs typeface="Arimo"/>
                  <a:sym typeface="Arimo"/>
                </a:rPr>
                <a:t>META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Visita → kit ≈ 2% (hipótese)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96400" y="7178040"/>
            <a:ext cx="3840480" cy="1920240"/>
            <a:chOff x="0" y="0"/>
            <a:chExt cx="5120640" cy="2560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120640" cy="2579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B9B9B9"/>
                  </a:solidFill>
                  <a:latin typeface="Arimo"/>
                  <a:ea typeface="Arimo"/>
                  <a:cs typeface="Arimo"/>
                  <a:sym typeface="Arimo"/>
                </a:rPr>
                <a:t>META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≥ 6 sessões/mês, 4 com vídeo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41680" y="7178040"/>
            <a:ext cx="3840480" cy="1920240"/>
            <a:chOff x="0" y="0"/>
            <a:chExt cx="5120640" cy="2560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120640" cy="25793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B9B9B9"/>
                  </a:solidFill>
                  <a:latin typeface="Arimo"/>
                  <a:ea typeface="Arimo"/>
                  <a:cs typeface="Arimo"/>
                  <a:sym typeface="Arimo"/>
                </a:rPr>
                <a:t>META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60% renovam no ano 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Fontes de receita e precificação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Receita recorrente por usuário e licenças B2B, com preço ancorado nos R$ 400/ano do mercado.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68880" y="2853690"/>
            <a:ext cx="3840480" cy="3749040"/>
            <a:chOff x="0" y="0"/>
            <a:chExt cx="5120640" cy="4998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0640" cy="4998720"/>
            </a:xfrm>
            <a:custGeom>
              <a:avLst/>
              <a:gdLst/>
              <a:ahLst/>
              <a:cxnLst/>
              <a:rect r="r" b="b" t="t" l="l"/>
              <a:pathLst>
                <a:path h="4998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120640" cy="50177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Kit · R$ 399</a:t>
              </a:r>
            </a:p>
            <a:p>
              <a:pPr algn="l" marL="271462" indent="-135731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Sensor + 12 meses de Pro, pagamento único.</a:t>
              </a:r>
            </a:p>
            <a:p>
              <a:pPr algn="l" marL="271462" indent="-135731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Entrada ≈ âncora de R$ 400.</a:t>
              </a:r>
            </a:p>
            <a:p>
              <a:pPr algn="l" marL="271462" indent="-135731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Margem de contribuição de R$ 135 (34%).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35724" y="2853690"/>
            <a:ext cx="3840480" cy="3749040"/>
            <a:chOff x="0" y="0"/>
            <a:chExt cx="5120640" cy="4998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20640" cy="4998720"/>
            </a:xfrm>
            <a:custGeom>
              <a:avLst/>
              <a:gdLst/>
              <a:ahLst/>
              <a:cxnLst/>
              <a:rect r="r" b="b" t="t" l="l"/>
              <a:pathLst>
                <a:path h="4998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120640" cy="50177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 · R$ 199/ano</a:t>
              </a:r>
            </a:p>
            <a:p>
              <a:pPr algn="l" marL="271462" indent="-135731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Análise da bola (4 sessões de vídeo/mês), spin, local de impacto e gamificação completa.</a:t>
              </a:r>
            </a:p>
            <a:p>
              <a:pPr algn="l" marL="271462" indent="-135731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Mensal: R$ 29,90. Margem ≈ 59%.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04854" y="2853690"/>
            <a:ext cx="3840480" cy="3749040"/>
            <a:chOff x="0" y="0"/>
            <a:chExt cx="5120640" cy="499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4998720"/>
            </a:xfrm>
            <a:custGeom>
              <a:avLst/>
              <a:gdLst/>
              <a:ahLst/>
              <a:cxnLst/>
              <a:rect r="r" b="b" t="t" l="l"/>
              <a:pathLst>
                <a:path h="4998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120640" cy="50177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Arena · R$ 490</a:t>
              </a:r>
            </a:p>
            <a:p>
              <a:pPr algn="l" marL="271462" indent="-135731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Por quadra/mês: dashboard do treinador, ligas e relatórios.</a:t>
              </a:r>
            </a:p>
            <a:p>
              <a:pPr algn="l" marL="271462" indent="-135731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Kit de câmera cobrado à parte, a preço de custo. Margem ≈ 70%.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6812280"/>
            <a:ext cx="11155680" cy="2286000"/>
            <a:chOff x="0" y="0"/>
            <a:chExt cx="14874240" cy="304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874239" cy="3048000"/>
            </a:xfrm>
            <a:custGeom>
              <a:avLst/>
              <a:gdLst/>
              <a:ahLst/>
              <a:cxnLst/>
              <a:rect r="r" b="b" t="t" l="l"/>
              <a:pathLst>
                <a:path h="304800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80160" y="6939915"/>
            <a:ext cx="73152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Preço no 1º ano (R$)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80160" y="7452360"/>
            <a:ext cx="3749040" cy="411480"/>
            <a:chOff x="0" y="0"/>
            <a:chExt cx="499872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9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998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SwingVision (anual básico)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20640" y="7498080"/>
            <a:ext cx="5486400" cy="320040"/>
            <a:chOff x="0" y="0"/>
            <a:chExt cx="7315200" cy="426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0" cy="426720"/>
            </a:xfrm>
            <a:custGeom>
              <a:avLst/>
              <a:gdLst/>
              <a:ahLst/>
              <a:cxnLst/>
              <a:rect r="r" b="b" t="t" l="l"/>
              <a:pathLst>
                <a:path h="426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8A8A8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698480" y="7452360"/>
            <a:ext cx="914400" cy="411480"/>
            <a:chOff x="0" y="0"/>
            <a:chExt cx="12192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219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80160" y="7982712"/>
            <a:ext cx="3749040" cy="411480"/>
            <a:chOff x="0" y="0"/>
            <a:chExt cx="499872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9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998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Smart Ace kit (com sensor)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20640" y="8028432"/>
            <a:ext cx="5472684" cy="320040"/>
            <a:chOff x="0" y="0"/>
            <a:chExt cx="7296912" cy="426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96912" cy="426720"/>
            </a:xfrm>
            <a:custGeom>
              <a:avLst/>
              <a:gdLst/>
              <a:ahLst/>
              <a:cxnLst/>
              <a:rect r="r" b="b" t="t" l="l"/>
              <a:pathLst>
                <a:path h="426720" w="7296912">
                  <a:moveTo>
                    <a:pt x="0" y="0"/>
                  </a:moveTo>
                  <a:lnTo>
                    <a:pt x="7296912" y="0"/>
                  </a:lnTo>
                  <a:lnTo>
                    <a:pt x="7296912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684764" y="7982712"/>
            <a:ext cx="914400" cy="411480"/>
            <a:chOff x="0" y="0"/>
            <a:chExt cx="12192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219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399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0160" y="8513064"/>
            <a:ext cx="3749040" cy="411480"/>
            <a:chOff x="0" y="0"/>
            <a:chExt cx="499872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9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998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Smart Ace renovação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120640" y="8558784"/>
            <a:ext cx="2729484" cy="320040"/>
            <a:chOff x="0" y="0"/>
            <a:chExt cx="3639312" cy="426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39312" cy="426720"/>
            </a:xfrm>
            <a:custGeom>
              <a:avLst/>
              <a:gdLst/>
              <a:ahLst/>
              <a:cxnLst/>
              <a:rect r="r" b="b" t="t" l="l"/>
              <a:pathLst>
                <a:path h="426720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941564" y="8513064"/>
            <a:ext cx="914400" cy="411480"/>
            <a:chOff x="0" y="0"/>
            <a:chExt cx="12192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219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199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35840" y="6812280"/>
            <a:ext cx="4846320" cy="2286000"/>
            <a:chOff x="0" y="0"/>
            <a:chExt cx="6461760" cy="3048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61760" cy="3048000"/>
            </a:xfrm>
            <a:custGeom>
              <a:avLst/>
              <a:gdLst/>
              <a:ahLst/>
              <a:cxnLst/>
              <a:rect r="r" b="b" t="t" l="l"/>
              <a:pathLst>
                <a:path h="30480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461760" cy="30670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Fora das projeções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Desafios patrocinados por marcas e venda de acessórios: receita adicional ainda não modelada.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Recursos, atividades e parcerias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Cada recurso e cada parceiro existe para sustentar a vantagem de dados e reduzir o custo de aquisição.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5840" y="2788920"/>
            <a:ext cx="5257800" cy="4343400"/>
            <a:chOff x="0" y="0"/>
            <a:chExt cx="7010400" cy="579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0400" cy="5791200"/>
            </a:xfrm>
            <a:custGeom>
              <a:avLst/>
              <a:gdLst/>
              <a:ahLst/>
              <a:cxnLst/>
              <a:rect r="r" b="b" t="t" l="l"/>
              <a:pathLst>
                <a:path h="5791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791200"/>
                  </a:lnTo>
                  <a:lnTo>
                    <a:pt x="0" y="579120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010400" cy="58102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Recursos-chave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Firmware ESP32 + MPU-6050 com Bluetooth, já prototipado.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App Android com banco local e sincronização; backend Node.js + MySQL.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Modelo de tracking da bola e dataset rotulado de golpes.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15100" y="2788920"/>
            <a:ext cx="5257800" cy="4343400"/>
            <a:chOff x="0" y="0"/>
            <a:chExt cx="7010400" cy="579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10400" cy="5791200"/>
            </a:xfrm>
            <a:custGeom>
              <a:avLst/>
              <a:gdLst/>
              <a:ahLst/>
              <a:cxnLst/>
              <a:rect r="r" b="b" t="t" l="l"/>
              <a:pathLst>
                <a:path h="5791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791200"/>
                  </a:lnTo>
                  <a:lnTo>
                    <a:pt x="0" y="579120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010400" cy="58102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Atividades-chave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P&amp;D contínuo: classificar golpes e rastrear a bola.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Manter app, backend e nuvem de processamento.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Montar, testar e homologar o sensor (Anatel).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Comunidade, aquisição e gestão de parceiros.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24360" y="2788920"/>
            <a:ext cx="5257800" cy="4343400"/>
            <a:chOff x="0" y="0"/>
            <a:chExt cx="7010400" cy="579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10400" cy="5791200"/>
            </a:xfrm>
            <a:custGeom>
              <a:avLst/>
              <a:gdLst/>
              <a:ahLst/>
              <a:cxnLst/>
              <a:rect r="r" b="b" t="t" l="l"/>
              <a:pathLst>
                <a:path h="5791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791200"/>
                  </a:lnTo>
                  <a:lnTo>
                    <a:pt x="0" y="579120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010400" cy="58102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Parcerias-chave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Clubes, academias e professores: distribuição, dados e validação.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Federações e ligas: credibilidade e torneios.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EMS e distribuidores de componentes.</a:t>
              </a:r>
            </a:p>
            <a:p>
              <a:pPr algn="l" marL="241300" indent="-12065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Nuvem (créditos).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7406640"/>
            <a:ext cx="5257800" cy="1691640"/>
            <a:chOff x="0" y="0"/>
            <a:chExt cx="7010400" cy="2255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10400" cy="2255520"/>
            </a:xfrm>
            <a:custGeom>
              <a:avLst/>
              <a:gdLst/>
              <a:ahLst/>
              <a:cxnLst/>
              <a:rect r="r" b="b" t="t" l="l"/>
              <a:pathLst>
                <a:path h="225552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2255520"/>
                  </a:lnTo>
                  <a:lnTo>
                    <a:pt x="0" y="225552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010400" cy="2274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F0E0E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Lógica de valor: o protótipo funcional reduz o risco técnico e o prazo.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15100" y="7406640"/>
            <a:ext cx="5257800" cy="1691640"/>
            <a:chOff x="0" y="0"/>
            <a:chExt cx="7010400" cy="2255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10400" cy="2255520"/>
            </a:xfrm>
            <a:custGeom>
              <a:avLst/>
              <a:gdLst/>
              <a:ahLst/>
              <a:cxnLst/>
              <a:rect r="r" b="b" t="t" l="l"/>
              <a:pathLst>
                <a:path h="225552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2255520"/>
                  </a:lnTo>
                  <a:lnTo>
                    <a:pt x="0" y="225552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010400" cy="2274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F0E0E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Lógica de valor: P&amp;D e aquisição dominam o custo, por isso equipe e CAC pesam na estrutura.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24360" y="7406640"/>
            <a:ext cx="5257800" cy="1691640"/>
            <a:chOff x="0" y="0"/>
            <a:chExt cx="7010400" cy="2255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10400" cy="2255520"/>
            </a:xfrm>
            <a:custGeom>
              <a:avLst/>
              <a:gdLst/>
              <a:ahLst/>
              <a:cxnLst/>
              <a:rect r="r" b="b" t="t" l="l"/>
              <a:pathLst>
                <a:path h="225552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2255520"/>
                  </a:lnTo>
                  <a:lnTo>
                    <a:pt x="0" y="225552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010400" cy="2274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F0E0E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Lógica de valor: parceiros trocam acesso a clientes e capital por tecnologia, sem estoque nem força de vendas próprios.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Estrutura de custos e unit economics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O kit se paga na venda; é na renovação que a margem aparece.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5840" y="2788920"/>
            <a:ext cx="9875520" cy="6309360"/>
            <a:chOff x="0" y="0"/>
            <a:chExt cx="13167360" cy="8412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7361" cy="8412480"/>
            </a:xfrm>
            <a:custGeom>
              <a:avLst/>
              <a:gdLst/>
              <a:ahLst/>
              <a:cxnLst/>
              <a:rect r="r" b="b" t="t" l="l"/>
              <a:pathLst>
                <a:path h="841248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0160" y="2952750"/>
            <a:ext cx="9144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Kit (R$ 399): onde vai cada real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80160" y="3520440"/>
            <a:ext cx="3272590" cy="731520"/>
            <a:chOff x="0" y="0"/>
            <a:chExt cx="4363453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63466" cy="975360"/>
            </a:xfrm>
            <a:custGeom>
              <a:avLst/>
              <a:gdLst/>
              <a:ahLst/>
              <a:cxnLst/>
              <a:rect r="r" b="b" t="t" l="l"/>
              <a:pathLst>
                <a:path h="975360" w="4363466">
                  <a:moveTo>
                    <a:pt x="0" y="0"/>
                  </a:moveTo>
                  <a:lnTo>
                    <a:pt x="4363466" y="0"/>
                  </a:lnTo>
                  <a:lnTo>
                    <a:pt x="4363466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8A8A8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363453" cy="99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140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52750" y="3520440"/>
            <a:ext cx="1355788" cy="731520"/>
            <a:chOff x="0" y="0"/>
            <a:chExt cx="1807718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07718" cy="975360"/>
            </a:xfrm>
            <a:custGeom>
              <a:avLst/>
              <a:gdLst/>
              <a:ahLst/>
              <a:cxnLst/>
              <a:rect r="r" b="b" t="t" l="l"/>
              <a:pathLst>
                <a:path h="975360" w="1807718">
                  <a:moveTo>
                    <a:pt x="0" y="0"/>
                  </a:moveTo>
                  <a:lnTo>
                    <a:pt x="1807718" y="0"/>
                  </a:lnTo>
                  <a:lnTo>
                    <a:pt x="1807718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807718" cy="99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58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08538" y="3520440"/>
            <a:ext cx="1075277" cy="731520"/>
            <a:chOff x="0" y="0"/>
            <a:chExt cx="1433703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3703" cy="975360"/>
            </a:xfrm>
            <a:custGeom>
              <a:avLst/>
              <a:gdLst/>
              <a:ahLst/>
              <a:cxnLst/>
              <a:rect r="r" b="b" t="t" l="l"/>
              <a:pathLst>
                <a:path h="975360" w="1433703">
                  <a:moveTo>
                    <a:pt x="0" y="0"/>
                  </a:moveTo>
                  <a:lnTo>
                    <a:pt x="1433703" y="0"/>
                  </a:lnTo>
                  <a:lnTo>
                    <a:pt x="1433703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3F3F3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33703" cy="99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83816" y="3520440"/>
            <a:ext cx="467516" cy="731520"/>
            <a:chOff x="0" y="0"/>
            <a:chExt cx="623354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316" cy="975360"/>
            </a:xfrm>
            <a:custGeom>
              <a:avLst/>
              <a:gdLst/>
              <a:ahLst/>
              <a:cxnLst/>
              <a:rect r="r" b="b" t="t" l="l"/>
              <a:pathLst>
                <a:path h="975360" w="623316">
                  <a:moveTo>
                    <a:pt x="0" y="0"/>
                  </a:moveTo>
                  <a:lnTo>
                    <a:pt x="623316" y="0"/>
                  </a:lnTo>
                  <a:lnTo>
                    <a:pt x="623316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23354" cy="99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451331" y="3520440"/>
            <a:ext cx="3155709" cy="731520"/>
            <a:chOff x="0" y="0"/>
            <a:chExt cx="4207612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07637" cy="975360"/>
            </a:xfrm>
            <a:custGeom>
              <a:avLst/>
              <a:gdLst/>
              <a:ahLst/>
              <a:cxnLst/>
              <a:rect r="r" b="b" t="t" l="l"/>
              <a:pathLst>
                <a:path h="975360" w="4207637">
                  <a:moveTo>
                    <a:pt x="0" y="0"/>
                  </a:moveTo>
                  <a:lnTo>
                    <a:pt x="4207637" y="0"/>
                  </a:lnTo>
                  <a:lnTo>
                    <a:pt x="4207637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207612" cy="99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135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160" y="4507992"/>
            <a:ext cx="201168" cy="201168"/>
            <a:chOff x="0" y="0"/>
            <a:chExt cx="268224" cy="2682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0"/>
                  </a:moveTo>
                  <a:lnTo>
                    <a:pt x="268224" y="0"/>
                  </a:lnTo>
                  <a:lnTo>
                    <a:pt x="268224" y="268224"/>
                  </a:lnTo>
                  <a:lnTo>
                    <a:pt x="0" y="268224"/>
                  </a:lnTo>
                  <a:close/>
                </a:path>
              </a:pathLst>
            </a:custGeom>
            <a:solidFill>
              <a:srgbClr val="8A8A8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72768" y="4434840"/>
            <a:ext cx="2743200" cy="347472"/>
            <a:chOff x="0" y="0"/>
            <a:chExt cx="3657600" cy="4632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463296"/>
            </a:xfrm>
            <a:custGeom>
              <a:avLst/>
              <a:gdLst/>
              <a:ahLst/>
              <a:cxnLst/>
              <a:rect r="r" b="b" t="t" l="l"/>
              <a:pathLst>
                <a:path h="4632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657600" cy="482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CMV hardware R$ 140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480560" y="4507992"/>
            <a:ext cx="201168" cy="201168"/>
            <a:chOff x="0" y="0"/>
            <a:chExt cx="268224" cy="2682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0"/>
                  </a:moveTo>
                  <a:lnTo>
                    <a:pt x="268224" y="0"/>
                  </a:lnTo>
                  <a:lnTo>
                    <a:pt x="268224" y="268224"/>
                  </a:lnTo>
                  <a:lnTo>
                    <a:pt x="0" y="268224"/>
                  </a:lnTo>
                  <a:close/>
                </a:path>
              </a:pathLst>
            </a:custGeom>
            <a:solidFill>
              <a:srgbClr val="5E5E5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773168" y="4434840"/>
            <a:ext cx="2743200" cy="347472"/>
            <a:chOff x="0" y="0"/>
            <a:chExt cx="3657600" cy="4632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463296"/>
            </a:xfrm>
            <a:custGeom>
              <a:avLst/>
              <a:gdLst/>
              <a:ahLst/>
              <a:cxnLst/>
              <a:rect r="r" b="b" t="t" l="l"/>
              <a:pathLst>
                <a:path h="4632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657600" cy="482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Nuvem 12 meses R$ 58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671435" y="4498467"/>
            <a:ext cx="220218" cy="220218"/>
            <a:chOff x="0" y="0"/>
            <a:chExt cx="293624" cy="2936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3624" cy="293624"/>
            </a:xfrm>
            <a:custGeom>
              <a:avLst/>
              <a:gdLst/>
              <a:ahLst/>
              <a:cxnLst/>
              <a:rect r="r" b="b" t="t" l="l"/>
              <a:pathLst>
                <a:path h="293624" w="293624">
                  <a:moveTo>
                    <a:pt x="0" y="0"/>
                  </a:moveTo>
                  <a:lnTo>
                    <a:pt x="293624" y="0"/>
                  </a:lnTo>
                  <a:lnTo>
                    <a:pt x="293624" y="293624"/>
                  </a:lnTo>
                  <a:lnTo>
                    <a:pt x="0" y="293624"/>
                  </a:lnTo>
                  <a:close/>
                </a:path>
              </a:pathLst>
            </a:custGeom>
            <a:solidFill>
              <a:srgbClr val="3F3F3F"/>
            </a:solidFill>
            <a:ln w="19050" cap="sq">
              <a:solidFill>
                <a:srgbClr val="8A8A8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973568" y="4434840"/>
            <a:ext cx="2743200" cy="347472"/>
            <a:chOff x="0" y="0"/>
            <a:chExt cx="3657600" cy="4632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463296"/>
            </a:xfrm>
            <a:custGeom>
              <a:avLst/>
              <a:gdLst/>
              <a:ahLst/>
              <a:cxnLst/>
              <a:rect r="r" b="b" t="t" l="l"/>
              <a:pathLst>
                <a:path h="4632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3657600" cy="482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Impostos e taxas R$ 46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70635" y="4909947"/>
            <a:ext cx="220218" cy="220218"/>
            <a:chOff x="0" y="0"/>
            <a:chExt cx="293624" cy="2936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3624" cy="293624"/>
            </a:xfrm>
            <a:custGeom>
              <a:avLst/>
              <a:gdLst/>
              <a:ahLst/>
              <a:cxnLst/>
              <a:rect r="r" b="b" t="t" l="l"/>
              <a:pathLst>
                <a:path h="293624" w="293624">
                  <a:moveTo>
                    <a:pt x="0" y="0"/>
                  </a:moveTo>
                  <a:lnTo>
                    <a:pt x="293624" y="0"/>
                  </a:lnTo>
                  <a:lnTo>
                    <a:pt x="293624" y="293624"/>
                  </a:lnTo>
                  <a:lnTo>
                    <a:pt x="0" y="293624"/>
                  </a:lnTo>
                  <a:close/>
                </a:path>
              </a:pathLst>
            </a:custGeom>
            <a:solidFill>
              <a:srgbClr val="2B2B2B"/>
            </a:solidFill>
            <a:ln w="19050" cap="sq">
              <a:solidFill>
                <a:srgbClr val="8A8A8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572768" y="4846320"/>
            <a:ext cx="2743200" cy="347472"/>
            <a:chOff x="0" y="0"/>
            <a:chExt cx="3657600" cy="4632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463296"/>
            </a:xfrm>
            <a:custGeom>
              <a:avLst/>
              <a:gdLst/>
              <a:ahLst/>
              <a:cxnLst/>
              <a:rect r="r" b="b" t="t" l="l"/>
              <a:pathLst>
                <a:path h="4632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3657600" cy="482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Frete R$ 20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480560" y="4919472"/>
            <a:ext cx="201168" cy="201168"/>
            <a:chOff x="0" y="0"/>
            <a:chExt cx="268224" cy="2682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0"/>
                  </a:moveTo>
                  <a:lnTo>
                    <a:pt x="268224" y="0"/>
                  </a:lnTo>
                  <a:lnTo>
                    <a:pt x="268224" y="268224"/>
                  </a:lnTo>
                  <a:lnTo>
                    <a:pt x="0" y="268224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773168" y="4846320"/>
            <a:ext cx="4206240" cy="347472"/>
            <a:chOff x="0" y="0"/>
            <a:chExt cx="5608320" cy="4632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608320" cy="463296"/>
            </a:xfrm>
            <a:custGeom>
              <a:avLst/>
              <a:gdLst/>
              <a:ahLst/>
              <a:cxnLst/>
              <a:rect r="r" b="b" t="t" l="l"/>
              <a:pathLst>
                <a:path h="463296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608320" cy="482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Margem de contribuição R$ 135 (34%)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80160" y="5604510"/>
            <a:ext cx="9144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Renovação Pro (R$ 199): margem de 59%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80160" y="6172200"/>
            <a:ext cx="1355788" cy="731520"/>
            <a:chOff x="0" y="0"/>
            <a:chExt cx="1807718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07718" cy="975360"/>
            </a:xfrm>
            <a:custGeom>
              <a:avLst/>
              <a:gdLst/>
              <a:ahLst/>
              <a:cxnLst/>
              <a:rect r="r" b="b" t="t" l="l"/>
              <a:pathLst>
                <a:path h="975360" w="1807718">
                  <a:moveTo>
                    <a:pt x="0" y="0"/>
                  </a:moveTo>
                  <a:lnTo>
                    <a:pt x="1807718" y="0"/>
                  </a:lnTo>
                  <a:lnTo>
                    <a:pt x="1807718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807718" cy="99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58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635948" y="6172200"/>
            <a:ext cx="537639" cy="731520"/>
            <a:chOff x="0" y="0"/>
            <a:chExt cx="716852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16915" cy="975360"/>
            </a:xfrm>
            <a:custGeom>
              <a:avLst/>
              <a:gdLst/>
              <a:ahLst/>
              <a:cxnLst/>
              <a:rect r="r" b="b" t="t" l="l"/>
              <a:pathLst>
                <a:path h="975360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3F3F3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716852" cy="99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173587" y="6172200"/>
            <a:ext cx="2758326" cy="731520"/>
            <a:chOff x="0" y="0"/>
            <a:chExt cx="3677768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77793" cy="975360"/>
            </a:xfrm>
            <a:custGeom>
              <a:avLst/>
              <a:gdLst/>
              <a:ahLst/>
              <a:cxnLst/>
              <a:rect r="r" b="b" t="t" l="l"/>
              <a:pathLst>
                <a:path h="975360" w="3677793">
                  <a:moveTo>
                    <a:pt x="0" y="0"/>
                  </a:moveTo>
                  <a:lnTo>
                    <a:pt x="3677793" y="0"/>
                  </a:lnTo>
                  <a:lnTo>
                    <a:pt x="3677793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677768" cy="99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118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280160" y="7021830"/>
            <a:ext cx="932688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2F2F2"/>
                </a:solidFill>
                <a:latin typeface="Arimo"/>
                <a:ea typeface="Arimo"/>
                <a:cs typeface="Arimo"/>
                <a:sym typeface="Arimo"/>
              </a:rPr>
              <a:t>Nuvem R$ 58 · impostos e taxas R$ 23 · margem de contribuição R$ 118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80160" y="7570470"/>
            <a:ext cx="932688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LTV em 3 anos ≈ R$ 248</a:t>
            </a: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(R$ 135 + 60% × R$ 118 + 36% × R$ 118) contra </a:t>
            </a: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CAC de R$ 90</a:t>
            </a: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LTV/CAC ≈ 2,8x</a:t>
            </a: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 abaixo da meta de 3x. Retenção e CAC são as variáveis críticas.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1247120" y="2788920"/>
            <a:ext cx="6035040" cy="3291840"/>
            <a:chOff x="0" y="0"/>
            <a:chExt cx="8046720" cy="4389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0467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8046720" cy="44081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Custos fixos: R$ 40 mil/mês (ano 1)</a:t>
              </a:r>
            </a:p>
            <a:p>
              <a:pPr algn="l" marL="247332" indent="-123666" lvl="1">
                <a:lnSpc>
                  <a:spcPts val="2459"/>
                </a:lnSpc>
                <a:buFont typeface="Arial"/>
                <a:buChar char="•"/>
              </a:pPr>
              <a:r>
                <a:rPr lang="en-US" sz="20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Pessoal R$ 30 mil (4 pessoas em tempo integral)</a:t>
              </a:r>
            </a:p>
            <a:p>
              <a:pPr algn="l" marL="247332" indent="-123666" lvl="1">
                <a:lnSpc>
                  <a:spcPts val="2459"/>
                </a:lnSpc>
                <a:buFont typeface="Arial"/>
                <a:buChar char="•"/>
              </a:pPr>
              <a:r>
                <a:rPr lang="en-US" sz="20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Nuvem base e ferramentas R$ 3 mil</a:t>
              </a:r>
            </a:p>
            <a:p>
              <a:pPr algn="l" marL="247332" indent="-123666" lvl="1">
                <a:lnSpc>
                  <a:spcPts val="2459"/>
                </a:lnSpc>
                <a:buFont typeface="Arial"/>
                <a:buChar char="•"/>
              </a:pPr>
              <a:r>
                <a:rPr lang="en-US" sz="20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Marketing de marca R$ 4 mil</a:t>
              </a:r>
            </a:p>
            <a:p>
              <a:pPr algn="l" marL="247332" indent="-123666" lvl="1">
                <a:lnSpc>
                  <a:spcPts val="2459"/>
                </a:lnSpc>
                <a:buFont typeface="Arial"/>
                <a:buChar char="•"/>
              </a:pPr>
              <a:r>
                <a:rPr lang="en-US" sz="204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Jurídico e contábil R$ 2 mil; outros R$ 1 mil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247120" y="6355080"/>
            <a:ext cx="6035040" cy="2743200"/>
            <a:chOff x="0" y="0"/>
            <a:chExt cx="8046720" cy="3657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0467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8046720" cy="36766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Investimento inicial ≈ R$ 110 mil</a:t>
              </a:r>
            </a:p>
            <a:p>
              <a:pPr algn="l" marL="247332" indent="-123666" lvl="1">
                <a:lnSpc>
                  <a:spcPts val="2459"/>
                </a:lnSpc>
                <a:buFont typeface="Arial"/>
                <a:buChar char="•"/>
              </a:pPr>
              <a:r>
                <a:rPr lang="en-US" sz="20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Homologação Anatel: R$ 25 mil (estimativa)</a:t>
              </a:r>
            </a:p>
            <a:p>
              <a:pPr algn="l" marL="247332" indent="-123666" lvl="1">
                <a:lnSpc>
                  <a:spcPts val="2459"/>
                </a:lnSpc>
                <a:buFont typeface="Arial"/>
                <a:buChar char="•"/>
              </a:pPr>
              <a:r>
                <a:rPr lang="en-US" sz="20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Lote piloto de 500 kits: R$ 70 mil</a:t>
              </a:r>
            </a:p>
            <a:p>
              <a:pPr algn="l" marL="247332" indent="-123666" lvl="1">
                <a:lnSpc>
                  <a:spcPts val="2459"/>
                </a:lnSpc>
                <a:buFont typeface="Arial"/>
                <a:buChar char="•"/>
              </a:pPr>
              <a:r>
                <a:rPr lang="en-US" sz="2049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Ferramental e case: R$ 15 mil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Projeções e ponto de equilíbrio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Break-even operacional no ano 3, com 13 mil usuários, ou 0,5% dos tenistas brasileiros.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5840" y="2788920"/>
            <a:ext cx="8046720" cy="6309360"/>
            <a:chOff x="0" y="0"/>
            <a:chExt cx="10728960" cy="8412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28960" cy="8412480"/>
            </a:xfrm>
            <a:custGeom>
              <a:avLst/>
              <a:gdLst/>
              <a:ahLst/>
              <a:cxnLst/>
              <a:rect r="r" b="b" t="t" l="l"/>
              <a:pathLst>
                <a:path h="84124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0160" y="2907030"/>
            <a:ext cx="73152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D2F644"/>
                </a:solidFill>
                <a:latin typeface="Arimo Bold"/>
                <a:ea typeface="Arimo Bold"/>
                <a:cs typeface="Arimo Bold"/>
                <a:sym typeface="Arimo Bold"/>
              </a:rPr>
              <a:t>Receita por ano (R$ mil)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80160" y="3547872"/>
            <a:ext cx="201168" cy="201168"/>
            <a:chOff x="0" y="0"/>
            <a:chExt cx="268224" cy="2682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0"/>
                  </a:moveTo>
                  <a:lnTo>
                    <a:pt x="268224" y="0"/>
                  </a:lnTo>
                  <a:lnTo>
                    <a:pt x="268224" y="268224"/>
                  </a:lnTo>
                  <a:lnTo>
                    <a:pt x="0" y="268224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72768" y="3456432"/>
            <a:ext cx="2011680" cy="365760"/>
            <a:chOff x="0" y="0"/>
            <a:chExt cx="2682240" cy="487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68224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Kits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57600" y="3547872"/>
            <a:ext cx="201168" cy="201168"/>
            <a:chOff x="0" y="0"/>
            <a:chExt cx="268224" cy="2682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0"/>
                  </a:moveTo>
                  <a:lnTo>
                    <a:pt x="268224" y="0"/>
                  </a:lnTo>
                  <a:lnTo>
                    <a:pt x="268224" y="268224"/>
                  </a:lnTo>
                  <a:lnTo>
                    <a:pt x="0" y="2682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950208" y="3456432"/>
            <a:ext cx="2011680" cy="365760"/>
            <a:chOff x="0" y="0"/>
            <a:chExt cx="2682240" cy="487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68224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Renovações Pro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035040" y="3547872"/>
            <a:ext cx="201168" cy="201168"/>
            <a:chOff x="0" y="0"/>
            <a:chExt cx="268224" cy="2682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0"/>
                  </a:moveTo>
                  <a:lnTo>
                    <a:pt x="268224" y="0"/>
                  </a:lnTo>
                  <a:lnTo>
                    <a:pt x="268224" y="268224"/>
                  </a:lnTo>
                  <a:lnTo>
                    <a:pt x="0" y="268224"/>
                  </a:lnTo>
                  <a:close/>
                </a:path>
              </a:pathLst>
            </a:custGeom>
            <a:solidFill>
              <a:srgbClr val="7C7C7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327648" y="3456432"/>
            <a:ext cx="2011680" cy="365760"/>
            <a:chOff x="0" y="0"/>
            <a:chExt cx="2682240" cy="487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68224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Arena B2B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37360" y="8006210"/>
            <a:ext cx="1645920" cy="406270"/>
            <a:chOff x="0" y="0"/>
            <a:chExt cx="2194560" cy="5416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" cy="541655"/>
            </a:xfrm>
            <a:custGeom>
              <a:avLst/>
              <a:gdLst/>
              <a:ahLst/>
              <a:cxnLst/>
              <a:rect r="r" b="b" t="t" l="l"/>
              <a:pathLst>
                <a:path h="541655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1655"/>
                  </a:lnTo>
                  <a:lnTo>
                    <a:pt x="0" y="541655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37360" y="8006210"/>
            <a:ext cx="1645920" cy="406270"/>
            <a:chOff x="0" y="0"/>
            <a:chExt cx="2194560" cy="54169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" cy="541699"/>
            </a:xfrm>
            <a:custGeom>
              <a:avLst/>
              <a:gdLst/>
              <a:ahLst/>
              <a:cxnLst/>
              <a:rect r="r" b="b" t="t" l="l"/>
              <a:pathLst>
                <a:path h="541699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1699"/>
                  </a:lnTo>
                  <a:lnTo>
                    <a:pt x="0" y="54169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939" r="0" b="-2893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194560" cy="560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519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63040" y="7575680"/>
            <a:ext cx="219456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518,7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37360" y="8466582"/>
            <a:ext cx="164592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Ano 1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206240" y="7193661"/>
            <a:ext cx="1645920" cy="1218819"/>
            <a:chOff x="0" y="0"/>
            <a:chExt cx="2194560" cy="16250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" cy="1625092"/>
            </a:xfrm>
            <a:custGeom>
              <a:avLst/>
              <a:gdLst/>
              <a:ahLst/>
              <a:cxnLst/>
              <a:rect r="r" b="b" t="t" l="l"/>
              <a:pathLst>
                <a:path h="16250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625092"/>
                  </a:lnTo>
                  <a:lnTo>
                    <a:pt x="0" y="1625092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206240" y="7193661"/>
            <a:ext cx="1645920" cy="1218819"/>
            <a:chOff x="0" y="0"/>
            <a:chExt cx="2194560" cy="16250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" cy="1625097"/>
            </a:xfrm>
            <a:custGeom>
              <a:avLst/>
              <a:gdLst/>
              <a:ahLst/>
              <a:cxnLst/>
              <a:rect r="r" b="b" t="t" l="l"/>
              <a:pathLst>
                <a:path h="1625097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625097"/>
                  </a:lnTo>
                  <a:lnTo>
                    <a:pt x="0" y="162509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5009" t="0" r="-4500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194560" cy="1644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1.556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206240" y="7072093"/>
            <a:ext cx="1645920" cy="121558"/>
            <a:chOff x="0" y="0"/>
            <a:chExt cx="2194560" cy="16207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" cy="162052"/>
            </a:xfrm>
            <a:custGeom>
              <a:avLst/>
              <a:gdLst/>
              <a:ahLst/>
              <a:cxnLst/>
              <a:rect r="r" b="b" t="t" l="l"/>
              <a:pathLst>
                <a:path h="1620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62052"/>
                  </a:lnTo>
                  <a:lnTo>
                    <a:pt x="0" y="1620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206240" y="6887870"/>
            <a:ext cx="1645920" cy="184223"/>
            <a:chOff x="0" y="0"/>
            <a:chExt cx="2194560" cy="2456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" cy="245618"/>
            </a:xfrm>
            <a:custGeom>
              <a:avLst/>
              <a:gdLst/>
              <a:ahLst/>
              <a:cxnLst/>
              <a:rect r="r" b="b" t="t" l="l"/>
              <a:pathLst>
                <a:path h="24561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45618"/>
                  </a:lnTo>
                  <a:lnTo>
                    <a:pt x="0" y="245618"/>
                  </a:lnTo>
                  <a:close/>
                </a:path>
              </a:pathLst>
            </a:custGeom>
            <a:solidFill>
              <a:srgbClr val="7C7C7C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3931920" y="6457340"/>
            <a:ext cx="219456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1.946,5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06240" y="8466582"/>
            <a:ext cx="164592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Ano 2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675120" y="5974832"/>
            <a:ext cx="1645920" cy="2437648"/>
            <a:chOff x="0" y="0"/>
            <a:chExt cx="2194560" cy="32501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3250184"/>
            </a:xfrm>
            <a:custGeom>
              <a:avLst/>
              <a:gdLst/>
              <a:ahLst/>
              <a:cxnLst/>
              <a:rect r="r" b="b" t="t" l="l"/>
              <a:pathLst>
                <a:path h="325018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250184"/>
                  </a:lnTo>
                  <a:lnTo>
                    <a:pt x="0" y="3250184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675120" y="5974832"/>
            <a:ext cx="1645920" cy="2437648"/>
            <a:chOff x="0" y="0"/>
            <a:chExt cx="2194560" cy="32501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" cy="3250195"/>
            </a:xfrm>
            <a:custGeom>
              <a:avLst/>
              <a:gdLst/>
              <a:ahLst/>
              <a:cxnLst/>
              <a:rect r="r" b="b" t="t" l="l"/>
              <a:pathLst>
                <a:path h="3250195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250195"/>
                  </a:lnTo>
                  <a:lnTo>
                    <a:pt x="0" y="32501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0020" t="0" r="-14002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194560" cy="3269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3.112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675120" y="5537149"/>
            <a:ext cx="1645920" cy="437683"/>
            <a:chOff x="0" y="0"/>
            <a:chExt cx="2194560" cy="58357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0" cy="583565"/>
            </a:xfrm>
            <a:custGeom>
              <a:avLst/>
              <a:gdLst/>
              <a:ahLst/>
              <a:cxnLst/>
              <a:rect r="r" b="b" t="t" l="l"/>
              <a:pathLst>
                <a:path h="583565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3565"/>
                  </a:lnTo>
                  <a:lnTo>
                    <a:pt x="0" y="5835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675120" y="5537149"/>
            <a:ext cx="1645920" cy="437683"/>
            <a:chOff x="0" y="0"/>
            <a:chExt cx="2194560" cy="58357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" cy="583577"/>
            </a:xfrm>
            <a:custGeom>
              <a:avLst/>
              <a:gdLst/>
              <a:ahLst/>
              <a:cxnLst/>
              <a:rect r="r" b="b" t="t" l="l"/>
              <a:pathLst>
                <a:path h="583577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3577"/>
                  </a:lnTo>
                  <a:lnTo>
                    <a:pt x="0" y="58357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274" r="0" b="-2327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2194560" cy="60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559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675120" y="4846320"/>
            <a:ext cx="1645920" cy="690829"/>
            <a:chOff x="0" y="0"/>
            <a:chExt cx="2194560" cy="9211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" cy="921131"/>
            </a:xfrm>
            <a:custGeom>
              <a:avLst/>
              <a:gdLst/>
              <a:ahLst/>
              <a:cxnLst/>
              <a:rect r="r" b="b" t="t" l="l"/>
              <a:pathLst>
                <a:path h="921131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1131"/>
                  </a:lnTo>
                  <a:lnTo>
                    <a:pt x="0" y="921131"/>
                  </a:lnTo>
                  <a:close/>
                </a:path>
              </a:pathLst>
            </a:custGeom>
            <a:solidFill>
              <a:srgbClr val="7C7C7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675120" y="4846320"/>
            <a:ext cx="1645920" cy="690829"/>
            <a:chOff x="0" y="0"/>
            <a:chExt cx="2194560" cy="92110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" cy="921108"/>
            </a:xfrm>
            <a:custGeom>
              <a:avLst/>
              <a:gdLst/>
              <a:ahLst/>
              <a:cxnLst/>
              <a:rect r="r" b="b" t="t" l="l"/>
              <a:pathLst>
                <a:path h="92110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1108"/>
                  </a:lnTo>
                  <a:lnTo>
                    <a:pt x="0" y="9211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851" t="0" r="-38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194560" cy="940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882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6400800" y="4415790"/>
            <a:ext cx="219456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4.553,0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675120" y="8466582"/>
            <a:ext cx="164592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Ano 3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418320" y="2788920"/>
            <a:ext cx="7863840" cy="4700016"/>
            <a:chOff x="0" y="0"/>
            <a:chExt cx="10485120" cy="62666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85120" cy="6266688"/>
            </a:xfrm>
            <a:custGeom>
              <a:avLst/>
              <a:gdLst/>
              <a:ahLst/>
              <a:cxnLst/>
              <a:rect r="r" b="b" t="t" l="l"/>
              <a:pathLst>
                <a:path h="62666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266688"/>
                  </a:lnTo>
                  <a:lnTo>
                    <a:pt x="0" y="6266688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893040" y="2788920"/>
            <a:ext cx="1188720" cy="512064"/>
            <a:chOff x="0" y="0"/>
            <a:chExt cx="1584960" cy="682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sz="1700" b="true">
                  <a:solidFill>
                    <a:srgbClr val="B9B9B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Ano 1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356080" y="2788920"/>
            <a:ext cx="1188720" cy="512064"/>
            <a:chOff x="0" y="0"/>
            <a:chExt cx="1584960" cy="6827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sz="1700" b="true">
                  <a:solidFill>
                    <a:srgbClr val="B9B9B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Ano 2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5819120" y="2788920"/>
            <a:ext cx="1188720" cy="512064"/>
            <a:chOff x="0" y="0"/>
            <a:chExt cx="1584960" cy="6827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sz="1700" b="true">
                  <a:solidFill>
                    <a:srgbClr val="B9B9B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Ano 3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01200" y="3300984"/>
            <a:ext cx="3291840" cy="512064"/>
            <a:chOff x="0" y="0"/>
            <a:chExt cx="4389120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438912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Kits vendidos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893040" y="3300984"/>
            <a:ext cx="1188720" cy="512064"/>
            <a:chOff x="0" y="0"/>
            <a:chExt cx="158496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1.300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356080" y="3300984"/>
            <a:ext cx="1188720" cy="512064"/>
            <a:chOff x="0" y="0"/>
            <a:chExt cx="1584960" cy="68275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3.900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5819120" y="3300984"/>
            <a:ext cx="1188720" cy="512064"/>
            <a:chOff x="0" y="0"/>
            <a:chExt cx="1584960" cy="6827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7.800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01200" y="3813048"/>
            <a:ext cx="3291840" cy="512064"/>
            <a:chOff x="0" y="0"/>
            <a:chExt cx="438912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438912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Usuários acumulados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893040" y="3813048"/>
            <a:ext cx="1188720" cy="512064"/>
            <a:chOff x="0" y="0"/>
            <a:chExt cx="1584960" cy="682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1.300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356080" y="3813048"/>
            <a:ext cx="1188720" cy="512064"/>
            <a:chOff x="0" y="0"/>
            <a:chExt cx="158496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5.200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5819120" y="3813048"/>
            <a:ext cx="1188720" cy="512064"/>
            <a:chOff x="0" y="0"/>
            <a:chExt cx="1584960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13.000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601200" y="4325112"/>
            <a:ext cx="3291840" cy="512064"/>
            <a:chOff x="0" y="0"/>
            <a:chExt cx="4389120" cy="6827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438912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Renovações Pro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893040" y="4325112"/>
            <a:ext cx="1188720" cy="512064"/>
            <a:chOff x="0" y="0"/>
            <a:chExt cx="1584960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—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356080" y="4325112"/>
            <a:ext cx="1188720" cy="512064"/>
            <a:chOff x="0" y="0"/>
            <a:chExt cx="1584960" cy="6827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780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5819120" y="4325112"/>
            <a:ext cx="1188720" cy="512064"/>
            <a:chOff x="0" y="0"/>
            <a:chExt cx="158496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2.808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01200" y="4837176"/>
            <a:ext cx="3291840" cy="512064"/>
            <a:chOff x="0" y="0"/>
            <a:chExt cx="4389120" cy="68275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438912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Quadras B2B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893040" y="4837176"/>
            <a:ext cx="1188720" cy="512064"/>
            <a:chOff x="0" y="0"/>
            <a:chExt cx="1584960" cy="6827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—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4356080" y="4837176"/>
            <a:ext cx="1188720" cy="512064"/>
            <a:chOff x="0" y="0"/>
            <a:chExt cx="1584960" cy="68275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40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5819120" y="4837176"/>
            <a:ext cx="1188720" cy="512064"/>
            <a:chOff x="0" y="0"/>
            <a:chExt cx="1584960" cy="68275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150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601200" y="5349240"/>
            <a:ext cx="3291840" cy="512064"/>
            <a:chOff x="0" y="0"/>
            <a:chExt cx="4389120" cy="68275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19050"/>
              <a:ext cx="438912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Receita (R$ mil)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893040" y="5349240"/>
            <a:ext cx="1188720" cy="512064"/>
            <a:chOff x="0" y="0"/>
            <a:chExt cx="1584960" cy="68275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518,7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4356080" y="5349240"/>
            <a:ext cx="1188720" cy="512064"/>
            <a:chOff x="0" y="0"/>
            <a:chExt cx="1584960" cy="68275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1.946,5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5819120" y="5349240"/>
            <a:ext cx="1188720" cy="512064"/>
            <a:chOff x="0" y="0"/>
            <a:chExt cx="1584960" cy="68275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4.553,0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601200" y="5861304"/>
            <a:ext cx="3291840" cy="512064"/>
            <a:chOff x="0" y="0"/>
            <a:chExt cx="4389120" cy="68275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19050"/>
              <a:ext cx="438912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Contrib. após CAC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2893040" y="5861304"/>
            <a:ext cx="1188720" cy="512064"/>
            <a:chOff x="0" y="0"/>
            <a:chExt cx="1584960" cy="68275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58,5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4356080" y="5861304"/>
            <a:ext cx="1188720" cy="512064"/>
            <a:chOff x="0" y="0"/>
            <a:chExt cx="1584960" cy="682752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432,2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5819120" y="5861304"/>
            <a:ext cx="1188720" cy="512064"/>
            <a:chOff x="0" y="0"/>
            <a:chExt cx="1584960" cy="68275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1.299,7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9601200" y="6373368"/>
            <a:ext cx="3291840" cy="512064"/>
            <a:chOff x="0" y="0"/>
            <a:chExt cx="4389120" cy="682752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19050"/>
              <a:ext cx="438912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Custos fixos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2893040" y="6373368"/>
            <a:ext cx="1188720" cy="512064"/>
            <a:chOff x="0" y="0"/>
            <a:chExt cx="1584960" cy="682752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480,0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4356080" y="6373368"/>
            <a:ext cx="1188720" cy="512064"/>
            <a:chOff x="0" y="0"/>
            <a:chExt cx="1584960" cy="682752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792,0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5819120" y="6373368"/>
            <a:ext cx="1188720" cy="512064"/>
            <a:chOff x="0" y="0"/>
            <a:chExt cx="1584960" cy="682752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19050"/>
              <a:ext cx="15849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1.260,0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9418320" y="6885432"/>
            <a:ext cx="7863840" cy="603504"/>
            <a:chOff x="0" y="0"/>
            <a:chExt cx="10485120" cy="804672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0485120" cy="804672"/>
            </a:xfrm>
            <a:custGeom>
              <a:avLst/>
              <a:gdLst/>
              <a:ahLst/>
              <a:cxnLst/>
              <a:rect r="r" b="b" t="t" l="l"/>
              <a:pathLst>
                <a:path h="80467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D2F6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9601200" y="6885432"/>
            <a:ext cx="3291840" cy="603504"/>
            <a:chOff x="0" y="0"/>
            <a:chExt cx="4389120" cy="80467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389120" cy="804672"/>
            </a:xfrm>
            <a:custGeom>
              <a:avLst/>
              <a:gdLst/>
              <a:ahLst/>
              <a:cxnLst/>
              <a:rect r="r" b="b" t="t" l="l"/>
              <a:pathLst>
                <a:path h="80467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19050"/>
              <a:ext cx="4389120" cy="823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Resultado (R$ mil)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893040" y="6885432"/>
            <a:ext cx="1188720" cy="603504"/>
            <a:chOff x="0" y="0"/>
            <a:chExt cx="1584960" cy="80467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584960" cy="804672"/>
            </a:xfrm>
            <a:custGeom>
              <a:avLst/>
              <a:gdLst/>
              <a:ahLst/>
              <a:cxnLst/>
              <a:rect r="r" b="b" t="t" l="l"/>
              <a:pathLst>
                <a:path h="80467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5138" t="0" r="-15138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19050"/>
              <a:ext cx="1584960" cy="823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−421,5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4356080" y="6885432"/>
            <a:ext cx="1188720" cy="603504"/>
            <a:chOff x="0" y="0"/>
            <a:chExt cx="1584960" cy="80467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584960" cy="804672"/>
            </a:xfrm>
            <a:custGeom>
              <a:avLst/>
              <a:gdLst/>
              <a:ahLst/>
              <a:cxnLst/>
              <a:rect r="r" b="b" t="t" l="l"/>
              <a:pathLst>
                <a:path h="80467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5138" t="0" r="-15138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19050"/>
              <a:ext cx="1584960" cy="823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−359,8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5819120" y="6885432"/>
            <a:ext cx="1188720" cy="603504"/>
            <a:chOff x="0" y="0"/>
            <a:chExt cx="1584960" cy="80467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584960" cy="804672"/>
            </a:xfrm>
            <a:custGeom>
              <a:avLst/>
              <a:gdLst/>
              <a:ahLst/>
              <a:cxnLst/>
              <a:rect r="r" b="b" t="t" l="l"/>
              <a:pathLst>
                <a:path h="80467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5138" t="0" r="-15138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19050"/>
              <a:ext cx="1584960" cy="823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+39,7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9418320" y="7717536"/>
            <a:ext cx="7863840" cy="1380744"/>
            <a:chOff x="0" y="0"/>
            <a:chExt cx="10485120" cy="184099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0485120" cy="1840992"/>
            </a:xfrm>
            <a:custGeom>
              <a:avLst/>
              <a:gdLst/>
              <a:ahLst/>
              <a:cxnLst/>
              <a:rect r="r" b="b" t="t" l="l"/>
              <a:pathLst>
                <a:path h="18409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40992"/>
                  </a:lnTo>
                  <a:lnTo>
                    <a:pt x="0" y="1840992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9525"/>
              <a:ext cx="10485120" cy="185051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Sensibilidade do resultado no ano 3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CAC de R$ 150: −R$ 428 mil · retenção de 40%: −R$ 83 mil · nuvem a R$ 2,00/sessão: −R$ 368 mil. Aporte necessário ≈ R$ 1,0 mi (queima acumulada R$ 742 mil + R$ 110 mil de investimento + reserva).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Coerência e vantagem competitiva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Por que a Smart Ace e não outra: três vantagens que se reforçam entre si.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5840" y="2788920"/>
            <a:ext cx="3566160" cy="2148840"/>
            <a:chOff x="0" y="0"/>
            <a:chExt cx="4754880" cy="2865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54880" cy="2865120"/>
            </a:xfrm>
            <a:custGeom>
              <a:avLst/>
              <a:gdLst/>
              <a:ahLst/>
              <a:cxnLst/>
              <a:rect r="r" b="b" t="t" l="l"/>
              <a:pathLst>
                <a:path h="2865120" w="4754880">
                  <a:moveTo>
                    <a:pt x="0" y="0"/>
                  </a:moveTo>
                  <a:lnTo>
                    <a:pt x="4124579" y="0"/>
                  </a:lnTo>
                  <a:lnTo>
                    <a:pt x="4754880" y="1432560"/>
                  </a:lnTo>
                  <a:lnTo>
                    <a:pt x="4124579" y="2865120"/>
                  </a:lnTo>
                  <a:lnTo>
                    <a:pt x="0" y="286512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754880" cy="287464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Dor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Amador sem métricas, metas nem engajamento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83380" y="2788920"/>
            <a:ext cx="3566160" cy="2148840"/>
            <a:chOff x="0" y="0"/>
            <a:chExt cx="4754880" cy="2865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54880" cy="2865120"/>
            </a:xfrm>
            <a:custGeom>
              <a:avLst/>
              <a:gdLst/>
              <a:ahLst/>
              <a:cxnLst/>
              <a:rect r="r" b="b" t="t" l="l"/>
              <a:pathLst>
                <a:path h="2865120" w="4754880">
                  <a:moveTo>
                    <a:pt x="0" y="0"/>
                  </a:moveTo>
                  <a:lnTo>
                    <a:pt x="4124579" y="0"/>
                  </a:lnTo>
                  <a:lnTo>
                    <a:pt x="4754880" y="1432560"/>
                  </a:lnTo>
                  <a:lnTo>
                    <a:pt x="4124579" y="2865120"/>
                  </a:lnTo>
                  <a:lnTo>
                    <a:pt x="0" y="28651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754880" cy="287464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Proposta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Raquete + bola + gamificação em um app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60920" y="2788920"/>
            <a:ext cx="3566160" cy="2148840"/>
            <a:chOff x="0" y="0"/>
            <a:chExt cx="4754880" cy="2865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54880" cy="2865120"/>
            </a:xfrm>
            <a:custGeom>
              <a:avLst/>
              <a:gdLst/>
              <a:ahLst/>
              <a:cxnLst/>
              <a:rect r="r" b="b" t="t" l="l"/>
              <a:pathLst>
                <a:path h="2865120" w="4754880">
                  <a:moveTo>
                    <a:pt x="0" y="0"/>
                  </a:moveTo>
                  <a:lnTo>
                    <a:pt x="4124579" y="0"/>
                  </a:lnTo>
                  <a:lnTo>
                    <a:pt x="4754880" y="1432560"/>
                  </a:lnTo>
                  <a:lnTo>
                    <a:pt x="4124579" y="2865120"/>
                  </a:lnTo>
                  <a:lnTo>
                    <a:pt x="0" y="28651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4754880" cy="287464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Segmento e canal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Amadores e clubes; comunidades, clubes e professores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38460" y="2788920"/>
            <a:ext cx="3566160" cy="2148840"/>
            <a:chOff x="0" y="0"/>
            <a:chExt cx="4754880" cy="2865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54880" cy="2865120"/>
            </a:xfrm>
            <a:custGeom>
              <a:avLst/>
              <a:gdLst/>
              <a:ahLst/>
              <a:cxnLst/>
              <a:rect r="r" b="b" t="t" l="l"/>
              <a:pathLst>
                <a:path h="2865120" w="4754880">
                  <a:moveTo>
                    <a:pt x="0" y="0"/>
                  </a:moveTo>
                  <a:lnTo>
                    <a:pt x="4124579" y="0"/>
                  </a:lnTo>
                  <a:lnTo>
                    <a:pt x="4754880" y="1432560"/>
                  </a:lnTo>
                  <a:lnTo>
                    <a:pt x="4124579" y="2865120"/>
                  </a:lnTo>
                  <a:lnTo>
                    <a:pt x="0" y="28651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754880" cy="287464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Receita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Kit R$ 399, Pro R$ 199/ano, Arena R$ 490/quadra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16000" y="2788920"/>
            <a:ext cx="3566160" cy="2148840"/>
            <a:chOff x="0" y="0"/>
            <a:chExt cx="4754880" cy="2865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4880" cy="2865120"/>
            </a:xfrm>
            <a:custGeom>
              <a:avLst/>
              <a:gdLst/>
              <a:ahLst/>
              <a:cxnLst/>
              <a:rect r="r" b="b" t="t" l="l"/>
              <a:pathLst>
                <a:path h="2865120" w="4754880">
                  <a:moveTo>
                    <a:pt x="0" y="0"/>
                  </a:moveTo>
                  <a:lnTo>
                    <a:pt x="4124579" y="0"/>
                  </a:lnTo>
                  <a:lnTo>
                    <a:pt x="4754880" y="1432560"/>
                  </a:lnTo>
                  <a:lnTo>
                    <a:pt x="4124579" y="2865120"/>
                  </a:lnTo>
                  <a:lnTo>
                    <a:pt x="0" y="286512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754880" cy="287464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Custos e parcerias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CMV R$ 140 e nuvem R$ 1,20/sessão; clubes e fomento baixam CAC e capital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40" y="5257800"/>
            <a:ext cx="5257800" cy="3840480"/>
            <a:chOff x="0" y="0"/>
            <a:chExt cx="7010400" cy="5120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104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010400" cy="51396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Dados proprietários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Cada sessão rotula golpes e trajetórias; o modelo melhora com o uso.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VRIO:</a:t>
              </a:r>
              <a:r>
                <a:rPr lang="en-US" sz="24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 valioso sim · raro sim · inimitável sim (leva tempo de coleta) · organizado sim (pipeline no backend).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15100" y="5257800"/>
            <a:ext cx="5257800" cy="3840480"/>
            <a:chOff x="0" y="0"/>
            <a:chExt cx="7010400" cy="5120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104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010400" cy="51396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Experiência integrada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Só a Smart Ace conecta raquete, bola e gamificação (matriz da Entrega 1).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VRIO:</a:t>
              </a: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valioso sim · raro sim · inimitável parcial (copiável com capital) · organizado sim.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24360" y="5257800"/>
            <a:ext cx="5257800" cy="3840480"/>
            <a:chOff x="0" y="0"/>
            <a:chExt cx="7010400" cy="5120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104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7010400" cy="51396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Rede de clubes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Densidade local cria ranking e retenção; contratos por quadra e professores indicadores reduzem o CAC.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VRIO:</a:t>
              </a: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valioso sim · raro parcial · inimitável parcial · organizado em construção.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292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20" y="556641"/>
            <a:ext cx="27432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5840"/>
            <a:ext cx="161848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Conclusão e próximos passos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30"/>
            <a:ext cx="16230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2F644"/>
                </a:solidFill>
                <a:latin typeface="Arimo"/>
                <a:ea typeface="Arimo"/>
                <a:cs typeface="Arimo"/>
                <a:sym typeface="Arimo"/>
              </a:rPr>
              <a:t>A tese se sustenta se a validação de campo confirmar preço, retenção e CAC.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081760" y="9253728"/>
            <a:ext cx="5751576" cy="469087"/>
          </a:xfrm>
          <a:custGeom>
            <a:avLst/>
            <a:gdLst/>
            <a:ahLst/>
            <a:cxnLst/>
            <a:rect r="r" b="b" t="t" l="l"/>
            <a:pathLst>
              <a:path h="469087" w="5751576">
                <a:moveTo>
                  <a:pt x="5751576" y="0"/>
                </a:moveTo>
                <a:lnTo>
                  <a:pt x="0" y="0"/>
                </a:lnTo>
                <a:lnTo>
                  <a:pt x="0" y="469087"/>
                </a:lnTo>
                <a:lnTo>
                  <a:pt x="5751576" y="469087"/>
                </a:lnTo>
                <a:lnTo>
                  <a:pt x="575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99270"/>
            <a:ext cx="109728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Smart Ace · Entrega 2 · Inovação e Empreendedorismo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5840" y="2788920"/>
            <a:ext cx="5257800" cy="5212080"/>
            <a:chOff x="0" y="0"/>
            <a:chExt cx="7010400" cy="6949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0400" cy="6949440"/>
            </a:xfrm>
            <a:custGeom>
              <a:avLst/>
              <a:gdLst/>
              <a:ahLst/>
              <a:cxnLst/>
              <a:rect r="r" b="b" t="t" l="l"/>
              <a:pathLst>
                <a:path h="694944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D2F64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010400" cy="69684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0E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Conclusão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Setor moderadamente atrativo (3,2/5), com demanda crescente e fornecedores fracos.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Vantagem em dados, integração e clubes, ainda em construção.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F0E0E"/>
                  </a:solidFill>
                  <a:latin typeface="Arimo"/>
                  <a:ea typeface="Arimo"/>
                  <a:cs typeface="Arimo"/>
                  <a:sym typeface="Arimo"/>
                </a:rPr>
                <a:t>Modelo chega ao equilíbrio no ano 3 com ≈ R$ 1,0 mi de aporte.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15100" y="2788920"/>
            <a:ext cx="5257800" cy="5212080"/>
            <a:chOff x="0" y="0"/>
            <a:chExt cx="7010400" cy="6949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10400" cy="6949440"/>
            </a:xfrm>
            <a:custGeom>
              <a:avLst/>
              <a:gdLst/>
              <a:ahLst/>
              <a:cxnLst/>
              <a:rect r="r" b="b" t="t" l="l"/>
              <a:pathLst>
                <a:path h="694944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010400" cy="69684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Riscos e mitigação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CAC alto:</a:t>
              </a: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priorizar clubes e professores.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Retenção baixa:</a:t>
              </a: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gamificação, ligas e relatórios.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Custo de nuvem:</a:t>
              </a: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inferência na borda e uso justo.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2F2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Cópia por grandes:</a:t>
              </a: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dataset e acordos locais.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24360" y="2788920"/>
            <a:ext cx="5257800" cy="5212080"/>
            <a:chOff x="0" y="0"/>
            <a:chExt cx="7010400" cy="6949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10400" cy="6949440"/>
            </a:xfrm>
            <a:custGeom>
              <a:avLst/>
              <a:gdLst/>
              <a:ahLst/>
              <a:cxnLst/>
              <a:rect r="r" b="b" t="t" l="l"/>
              <a:pathLst>
                <a:path h="694944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1F1E1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010400" cy="69684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2F6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Próximos passos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Entrevistas e teste de preço (R$ 399 vs. alternativas).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Orçamento real de BOM e da homologação Anatel.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Integrar sensor e visão no protótipo.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Piloto com 3 clubes por 60 dias.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5840" y="8164830"/>
            <a:ext cx="162763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9B9B9"/>
                </a:solidFill>
                <a:latin typeface="Arimo"/>
                <a:ea typeface="Arimo"/>
                <a:cs typeface="Arimo"/>
                <a:sym typeface="Arimo"/>
              </a:rPr>
              <a:t>Fontes: ITF Global Tennis Report 2021 e 2024 (itftennis.com); comunidade r/10s no Reddit; Preços, custos, conversão e retenção são premissas do grupo, a validar em campo.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DAHZVqIFYWE</dc:identifier>
  <dcterms:modified xsi:type="dcterms:W3CDTF">2011-08-01T06:04:30Z</dcterms:modified>
  <cp:revision>1</cp:revision>
  <dc:title>Smart Ace Entrega 2</dc:title>
</cp:coreProperties>
</file>